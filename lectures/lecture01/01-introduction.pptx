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64" r:id="rId4"/>
    <p:sldId id="269" r:id="rId5"/>
    <p:sldId id="270" r:id="rId6"/>
    <p:sldId id="278" r:id="rId7"/>
    <p:sldId id="275" r:id="rId8"/>
    <p:sldId id="263" r:id="rId9"/>
    <p:sldId id="265" r:id="rId10"/>
    <p:sldId id="261" r:id="rId11"/>
    <p:sldId id="271" r:id="rId12"/>
    <p:sldId id="272" r:id="rId13"/>
    <p:sldId id="257" r:id="rId14"/>
    <p:sldId id="273" r:id="rId15"/>
    <p:sldId id="274" r:id="rId16"/>
    <p:sldId id="277" r:id="rId17"/>
    <p:sldId id="279" r:id="rId18"/>
    <p:sldId id="282" r:id="rId19"/>
    <p:sldId id="258" r:id="rId20"/>
    <p:sldId id="283" r:id="rId21"/>
    <p:sldId id="284" r:id="rId22"/>
    <p:sldId id="285" r:id="rId23"/>
    <p:sldId id="286" r:id="rId24"/>
    <p:sldId id="262" r:id="rId25"/>
    <p:sldId id="287" r:id="rId26"/>
    <p:sldId id="288" r:id="rId27"/>
    <p:sldId id="289" r:id="rId28"/>
    <p:sldId id="266" r:id="rId29"/>
    <p:sldId id="290" r:id="rId30"/>
    <p:sldId id="29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61"/>
    <p:restoredTop sz="96240"/>
  </p:normalViewPr>
  <p:slideViewPr>
    <p:cSldViewPr snapToGrid="0">
      <p:cViewPr varScale="1">
        <p:scale>
          <a:sx n="128" d="100"/>
          <a:sy n="128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BC6744-E125-5B49-BF35-573482B3869E}" type="doc">
      <dgm:prSet loTypeId="urn:microsoft.com/office/officeart/2005/8/layout/process1" loCatId="" qsTypeId="urn:microsoft.com/office/officeart/2005/8/quickstyle/3d3" qsCatId="3D" csTypeId="urn:microsoft.com/office/officeart/2005/8/colors/colorful4" csCatId="colorful" phldr="1"/>
      <dgm:spPr/>
    </dgm:pt>
    <dgm:pt modelId="{06F042AE-B717-6E4B-854F-D0E453BDA5A8}">
      <dgm:prSet phldrT="[Text]"/>
      <dgm:spPr/>
      <dgm:t>
        <a:bodyPr/>
        <a:lstStyle/>
        <a:p>
          <a:r>
            <a:rPr lang="en-US"/>
            <a:t>Submit Proposal</a:t>
          </a:r>
        </a:p>
      </dgm:t>
    </dgm:pt>
    <dgm:pt modelId="{16D6F8A7-9DEA-154B-AD7A-5E15B079B3CD}" type="parTrans" cxnId="{EC4057EB-8621-8848-8D60-1C7335506D9C}">
      <dgm:prSet/>
      <dgm:spPr/>
      <dgm:t>
        <a:bodyPr/>
        <a:lstStyle/>
        <a:p>
          <a:endParaRPr lang="en-US"/>
        </a:p>
      </dgm:t>
    </dgm:pt>
    <dgm:pt modelId="{51C39784-D9E8-E548-839A-F75BAC4CD19E}" type="sibTrans" cxnId="{EC4057EB-8621-8848-8D60-1C7335506D9C}">
      <dgm:prSet/>
      <dgm:spPr/>
      <dgm:t>
        <a:bodyPr/>
        <a:lstStyle/>
        <a:p>
          <a:endParaRPr lang="en-US"/>
        </a:p>
      </dgm:t>
    </dgm:pt>
    <dgm:pt modelId="{CEC1C3B7-9789-FA4C-8FBE-B61FE33E48D9}">
      <dgm:prSet phldrT="[Text]"/>
      <dgm:spPr/>
      <dgm:t>
        <a:bodyPr/>
        <a:lstStyle/>
        <a:p>
          <a:r>
            <a:rPr lang="en-US"/>
            <a:t>Approved by TAs</a:t>
          </a:r>
        </a:p>
      </dgm:t>
    </dgm:pt>
    <dgm:pt modelId="{CFF983FE-9461-8146-9939-701A37C1E98C}" type="parTrans" cxnId="{6878E177-E4F9-224D-A128-A0352E83B091}">
      <dgm:prSet/>
      <dgm:spPr/>
      <dgm:t>
        <a:bodyPr/>
        <a:lstStyle/>
        <a:p>
          <a:endParaRPr lang="en-US"/>
        </a:p>
      </dgm:t>
    </dgm:pt>
    <dgm:pt modelId="{7CA4456F-E672-6542-B08D-A712FCA7952C}" type="sibTrans" cxnId="{6878E177-E4F9-224D-A128-A0352E83B091}">
      <dgm:prSet/>
      <dgm:spPr/>
      <dgm:t>
        <a:bodyPr/>
        <a:lstStyle/>
        <a:p>
          <a:endParaRPr lang="en-US"/>
        </a:p>
      </dgm:t>
    </dgm:pt>
    <dgm:pt modelId="{D6709365-49D2-1140-8C69-2599F277B22D}">
      <dgm:prSet phldrT="[Text]"/>
      <dgm:spPr/>
      <dgm:t>
        <a:bodyPr/>
        <a:lstStyle/>
        <a:p>
          <a:r>
            <a:rPr lang="en-US"/>
            <a:t>Milestone 1</a:t>
          </a:r>
        </a:p>
      </dgm:t>
    </dgm:pt>
    <dgm:pt modelId="{036779E4-B9AB-6B4A-9DF4-A287EC0DF971}" type="parTrans" cxnId="{7DECC375-5B52-3D4C-ACDB-951176A699F4}">
      <dgm:prSet/>
      <dgm:spPr/>
      <dgm:t>
        <a:bodyPr/>
        <a:lstStyle/>
        <a:p>
          <a:endParaRPr lang="en-US"/>
        </a:p>
      </dgm:t>
    </dgm:pt>
    <dgm:pt modelId="{042879E0-A188-094E-B324-B36BB86BD5B9}" type="sibTrans" cxnId="{7DECC375-5B52-3D4C-ACDB-951176A699F4}">
      <dgm:prSet/>
      <dgm:spPr/>
      <dgm:t>
        <a:bodyPr/>
        <a:lstStyle/>
        <a:p>
          <a:endParaRPr lang="en-US"/>
        </a:p>
      </dgm:t>
    </dgm:pt>
    <dgm:pt modelId="{4FA46C3A-D2A1-784B-89DC-3B906D418576}">
      <dgm:prSet phldrT="[Text]"/>
      <dgm:spPr/>
      <dgm:t>
        <a:bodyPr/>
        <a:lstStyle/>
        <a:p>
          <a:r>
            <a:rPr lang="en-US"/>
            <a:t>Milestone 2</a:t>
          </a:r>
        </a:p>
      </dgm:t>
    </dgm:pt>
    <dgm:pt modelId="{590B8A37-0BBF-7A48-A982-E8D9398F9472}" type="parTrans" cxnId="{1FA8D356-7617-014B-825A-A99AF37E3033}">
      <dgm:prSet/>
      <dgm:spPr/>
      <dgm:t>
        <a:bodyPr/>
        <a:lstStyle/>
        <a:p>
          <a:endParaRPr lang="en-US"/>
        </a:p>
      </dgm:t>
    </dgm:pt>
    <dgm:pt modelId="{F042545E-8D26-4A42-B5AE-2F2B31805907}" type="sibTrans" cxnId="{1FA8D356-7617-014B-825A-A99AF37E3033}">
      <dgm:prSet/>
      <dgm:spPr/>
      <dgm:t>
        <a:bodyPr/>
        <a:lstStyle/>
        <a:p>
          <a:endParaRPr lang="en-US"/>
        </a:p>
      </dgm:t>
    </dgm:pt>
    <dgm:pt modelId="{04F33374-1B7B-234C-9A04-C87688F1DC4B}">
      <dgm:prSet phldrT="[Text]"/>
      <dgm:spPr/>
      <dgm:t>
        <a:bodyPr/>
        <a:lstStyle/>
        <a:p>
          <a:r>
            <a:rPr lang="en-US"/>
            <a:t>Report or Presentation</a:t>
          </a:r>
        </a:p>
      </dgm:t>
    </dgm:pt>
    <dgm:pt modelId="{84E8AEC7-269B-E64A-A141-C973EE52707E}" type="parTrans" cxnId="{B111D6F4-3491-3545-9285-91E137DB8CF1}">
      <dgm:prSet/>
      <dgm:spPr/>
      <dgm:t>
        <a:bodyPr/>
        <a:lstStyle/>
        <a:p>
          <a:endParaRPr lang="en-US"/>
        </a:p>
      </dgm:t>
    </dgm:pt>
    <dgm:pt modelId="{70BA355E-A853-624D-AB7B-498FA0CECD44}" type="sibTrans" cxnId="{B111D6F4-3491-3545-9285-91E137DB8CF1}">
      <dgm:prSet/>
      <dgm:spPr/>
      <dgm:t>
        <a:bodyPr/>
        <a:lstStyle/>
        <a:p>
          <a:endParaRPr lang="en-US"/>
        </a:p>
      </dgm:t>
    </dgm:pt>
    <dgm:pt modelId="{715632CF-C22F-8A42-B057-AC618852D70F}" type="pres">
      <dgm:prSet presAssocID="{6FBC6744-E125-5B49-BF35-573482B3869E}" presName="Name0" presStyleCnt="0">
        <dgm:presLayoutVars>
          <dgm:dir/>
          <dgm:resizeHandles val="exact"/>
        </dgm:presLayoutVars>
      </dgm:prSet>
      <dgm:spPr/>
    </dgm:pt>
    <dgm:pt modelId="{BA093FAB-2CE1-BA4C-87A1-565E7C64636A}" type="pres">
      <dgm:prSet presAssocID="{06F042AE-B717-6E4B-854F-D0E453BDA5A8}" presName="node" presStyleLbl="node1" presStyleIdx="0" presStyleCnt="5">
        <dgm:presLayoutVars>
          <dgm:bulletEnabled val="1"/>
        </dgm:presLayoutVars>
      </dgm:prSet>
      <dgm:spPr/>
    </dgm:pt>
    <dgm:pt modelId="{438EC4F1-F0CA-ED48-8851-CAB050AF5CDA}" type="pres">
      <dgm:prSet presAssocID="{51C39784-D9E8-E548-839A-F75BAC4CD19E}" presName="sibTrans" presStyleLbl="sibTrans2D1" presStyleIdx="0" presStyleCnt="4"/>
      <dgm:spPr/>
    </dgm:pt>
    <dgm:pt modelId="{A09A801E-69E0-C740-8CC3-E42769BB142C}" type="pres">
      <dgm:prSet presAssocID="{51C39784-D9E8-E548-839A-F75BAC4CD19E}" presName="connectorText" presStyleLbl="sibTrans2D1" presStyleIdx="0" presStyleCnt="4"/>
      <dgm:spPr/>
    </dgm:pt>
    <dgm:pt modelId="{20A81CE5-2503-A444-8BC2-0AC5E6BD2757}" type="pres">
      <dgm:prSet presAssocID="{CEC1C3B7-9789-FA4C-8FBE-B61FE33E48D9}" presName="node" presStyleLbl="node1" presStyleIdx="1" presStyleCnt="5">
        <dgm:presLayoutVars>
          <dgm:bulletEnabled val="1"/>
        </dgm:presLayoutVars>
      </dgm:prSet>
      <dgm:spPr/>
    </dgm:pt>
    <dgm:pt modelId="{1ADE4218-9FAF-4846-8BAB-BC30B2D775E4}" type="pres">
      <dgm:prSet presAssocID="{7CA4456F-E672-6542-B08D-A712FCA7952C}" presName="sibTrans" presStyleLbl="sibTrans2D1" presStyleIdx="1" presStyleCnt="4"/>
      <dgm:spPr/>
    </dgm:pt>
    <dgm:pt modelId="{3223187A-F968-F841-A73C-C3658A781AB7}" type="pres">
      <dgm:prSet presAssocID="{7CA4456F-E672-6542-B08D-A712FCA7952C}" presName="connectorText" presStyleLbl="sibTrans2D1" presStyleIdx="1" presStyleCnt="4"/>
      <dgm:spPr/>
    </dgm:pt>
    <dgm:pt modelId="{768A3C55-AAB9-E748-9EFA-D65C21CE7877}" type="pres">
      <dgm:prSet presAssocID="{D6709365-49D2-1140-8C69-2599F277B22D}" presName="node" presStyleLbl="node1" presStyleIdx="2" presStyleCnt="5">
        <dgm:presLayoutVars>
          <dgm:bulletEnabled val="1"/>
        </dgm:presLayoutVars>
      </dgm:prSet>
      <dgm:spPr/>
    </dgm:pt>
    <dgm:pt modelId="{D321D333-C735-534D-BAA8-A492F9A8EF77}" type="pres">
      <dgm:prSet presAssocID="{042879E0-A188-094E-B324-B36BB86BD5B9}" presName="sibTrans" presStyleLbl="sibTrans2D1" presStyleIdx="2" presStyleCnt="4"/>
      <dgm:spPr/>
    </dgm:pt>
    <dgm:pt modelId="{39A64D31-3684-7445-ACB8-A055E369E47D}" type="pres">
      <dgm:prSet presAssocID="{042879E0-A188-094E-B324-B36BB86BD5B9}" presName="connectorText" presStyleLbl="sibTrans2D1" presStyleIdx="2" presStyleCnt="4"/>
      <dgm:spPr/>
    </dgm:pt>
    <dgm:pt modelId="{71842EED-BCF2-0A42-8498-A021B022A662}" type="pres">
      <dgm:prSet presAssocID="{4FA46C3A-D2A1-784B-89DC-3B906D418576}" presName="node" presStyleLbl="node1" presStyleIdx="3" presStyleCnt="5">
        <dgm:presLayoutVars>
          <dgm:bulletEnabled val="1"/>
        </dgm:presLayoutVars>
      </dgm:prSet>
      <dgm:spPr/>
    </dgm:pt>
    <dgm:pt modelId="{F88F1A82-C1B5-E24D-9A60-8BE8D916FDA0}" type="pres">
      <dgm:prSet presAssocID="{F042545E-8D26-4A42-B5AE-2F2B31805907}" presName="sibTrans" presStyleLbl="sibTrans2D1" presStyleIdx="3" presStyleCnt="4"/>
      <dgm:spPr/>
    </dgm:pt>
    <dgm:pt modelId="{86F4CD07-3532-6748-92D7-5517FD825F4F}" type="pres">
      <dgm:prSet presAssocID="{F042545E-8D26-4A42-B5AE-2F2B31805907}" presName="connectorText" presStyleLbl="sibTrans2D1" presStyleIdx="3" presStyleCnt="4"/>
      <dgm:spPr/>
    </dgm:pt>
    <dgm:pt modelId="{65B7F11F-0ED4-E948-9D54-46E227BC8480}" type="pres">
      <dgm:prSet presAssocID="{04F33374-1B7B-234C-9A04-C87688F1DC4B}" presName="node" presStyleLbl="node1" presStyleIdx="4" presStyleCnt="5">
        <dgm:presLayoutVars>
          <dgm:bulletEnabled val="1"/>
        </dgm:presLayoutVars>
      </dgm:prSet>
      <dgm:spPr/>
    </dgm:pt>
  </dgm:ptLst>
  <dgm:cxnLst>
    <dgm:cxn modelId="{ACF79B02-8ACF-3A45-A632-C4A69A32CE03}" type="presOf" srcId="{51C39784-D9E8-E548-839A-F75BAC4CD19E}" destId="{A09A801E-69E0-C740-8CC3-E42769BB142C}" srcOrd="1" destOrd="0" presId="urn:microsoft.com/office/officeart/2005/8/layout/process1"/>
    <dgm:cxn modelId="{91862A0A-FC7A-CE41-853A-83F472524A1E}" type="presOf" srcId="{F042545E-8D26-4A42-B5AE-2F2B31805907}" destId="{F88F1A82-C1B5-E24D-9A60-8BE8D916FDA0}" srcOrd="0" destOrd="0" presId="urn:microsoft.com/office/officeart/2005/8/layout/process1"/>
    <dgm:cxn modelId="{E10FE00E-F1E7-8447-9B33-3AC513984414}" type="presOf" srcId="{042879E0-A188-094E-B324-B36BB86BD5B9}" destId="{D321D333-C735-534D-BAA8-A492F9A8EF77}" srcOrd="0" destOrd="0" presId="urn:microsoft.com/office/officeart/2005/8/layout/process1"/>
    <dgm:cxn modelId="{D7381037-CA6F-EC46-BAC4-48974CBA0421}" type="presOf" srcId="{7CA4456F-E672-6542-B08D-A712FCA7952C}" destId="{1ADE4218-9FAF-4846-8BAB-BC30B2D775E4}" srcOrd="0" destOrd="0" presId="urn:microsoft.com/office/officeart/2005/8/layout/process1"/>
    <dgm:cxn modelId="{D429E549-6395-D24E-8371-CE08424B6392}" type="presOf" srcId="{6FBC6744-E125-5B49-BF35-573482B3869E}" destId="{715632CF-C22F-8A42-B057-AC618852D70F}" srcOrd="0" destOrd="0" presId="urn:microsoft.com/office/officeart/2005/8/layout/process1"/>
    <dgm:cxn modelId="{F9D20B56-2153-AB4F-94E5-ED493FDCE227}" type="presOf" srcId="{04F33374-1B7B-234C-9A04-C87688F1DC4B}" destId="{65B7F11F-0ED4-E948-9D54-46E227BC8480}" srcOrd="0" destOrd="0" presId="urn:microsoft.com/office/officeart/2005/8/layout/process1"/>
    <dgm:cxn modelId="{1FA8D356-7617-014B-825A-A99AF37E3033}" srcId="{6FBC6744-E125-5B49-BF35-573482B3869E}" destId="{4FA46C3A-D2A1-784B-89DC-3B906D418576}" srcOrd="3" destOrd="0" parTransId="{590B8A37-0BBF-7A48-A982-E8D9398F9472}" sibTransId="{F042545E-8D26-4A42-B5AE-2F2B31805907}"/>
    <dgm:cxn modelId="{4FFA3364-E07B-4442-B5C5-FDF372F5631E}" type="presOf" srcId="{51C39784-D9E8-E548-839A-F75BAC4CD19E}" destId="{438EC4F1-F0CA-ED48-8851-CAB050AF5CDA}" srcOrd="0" destOrd="0" presId="urn:microsoft.com/office/officeart/2005/8/layout/process1"/>
    <dgm:cxn modelId="{7DECC375-5B52-3D4C-ACDB-951176A699F4}" srcId="{6FBC6744-E125-5B49-BF35-573482B3869E}" destId="{D6709365-49D2-1140-8C69-2599F277B22D}" srcOrd="2" destOrd="0" parTransId="{036779E4-B9AB-6B4A-9DF4-A287EC0DF971}" sibTransId="{042879E0-A188-094E-B324-B36BB86BD5B9}"/>
    <dgm:cxn modelId="{C1D66277-0653-5849-BBB2-CFD3EB5A8C30}" type="presOf" srcId="{042879E0-A188-094E-B324-B36BB86BD5B9}" destId="{39A64D31-3684-7445-ACB8-A055E369E47D}" srcOrd="1" destOrd="0" presId="urn:microsoft.com/office/officeart/2005/8/layout/process1"/>
    <dgm:cxn modelId="{6878E177-E4F9-224D-A128-A0352E83B091}" srcId="{6FBC6744-E125-5B49-BF35-573482B3869E}" destId="{CEC1C3B7-9789-FA4C-8FBE-B61FE33E48D9}" srcOrd="1" destOrd="0" parTransId="{CFF983FE-9461-8146-9939-701A37C1E98C}" sibTransId="{7CA4456F-E672-6542-B08D-A712FCA7952C}"/>
    <dgm:cxn modelId="{B44AA87B-4AC8-F349-B598-21BC66801228}" type="presOf" srcId="{F042545E-8D26-4A42-B5AE-2F2B31805907}" destId="{86F4CD07-3532-6748-92D7-5517FD825F4F}" srcOrd="1" destOrd="0" presId="urn:microsoft.com/office/officeart/2005/8/layout/process1"/>
    <dgm:cxn modelId="{3841C28A-39B7-5548-8FE0-19C52C92A7E9}" type="presOf" srcId="{4FA46C3A-D2A1-784B-89DC-3B906D418576}" destId="{71842EED-BCF2-0A42-8498-A021B022A662}" srcOrd="0" destOrd="0" presId="urn:microsoft.com/office/officeart/2005/8/layout/process1"/>
    <dgm:cxn modelId="{1FF089B0-3D6D-664F-84C0-2099FA2DF25A}" type="presOf" srcId="{D6709365-49D2-1140-8C69-2599F277B22D}" destId="{768A3C55-AAB9-E748-9EFA-D65C21CE7877}" srcOrd="0" destOrd="0" presId="urn:microsoft.com/office/officeart/2005/8/layout/process1"/>
    <dgm:cxn modelId="{BED914C4-58DE-6340-BA8E-FFD8FE6CD317}" type="presOf" srcId="{7CA4456F-E672-6542-B08D-A712FCA7952C}" destId="{3223187A-F968-F841-A73C-C3658A781AB7}" srcOrd="1" destOrd="0" presId="urn:microsoft.com/office/officeart/2005/8/layout/process1"/>
    <dgm:cxn modelId="{EC4057EB-8621-8848-8D60-1C7335506D9C}" srcId="{6FBC6744-E125-5B49-BF35-573482B3869E}" destId="{06F042AE-B717-6E4B-854F-D0E453BDA5A8}" srcOrd="0" destOrd="0" parTransId="{16D6F8A7-9DEA-154B-AD7A-5E15B079B3CD}" sibTransId="{51C39784-D9E8-E548-839A-F75BAC4CD19E}"/>
    <dgm:cxn modelId="{360123F3-C905-0547-ADB0-F5FBC1502C34}" type="presOf" srcId="{06F042AE-B717-6E4B-854F-D0E453BDA5A8}" destId="{BA093FAB-2CE1-BA4C-87A1-565E7C64636A}" srcOrd="0" destOrd="0" presId="urn:microsoft.com/office/officeart/2005/8/layout/process1"/>
    <dgm:cxn modelId="{B111D6F4-3491-3545-9285-91E137DB8CF1}" srcId="{6FBC6744-E125-5B49-BF35-573482B3869E}" destId="{04F33374-1B7B-234C-9A04-C87688F1DC4B}" srcOrd="4" destOrd="0" parTransId="{84E8AEC7-269B-E64A-A141-C973EE52707E}" sibTransId="{70BA355E-A853-624D-AB7B-498FA0CECD44}"/>
    <dgm:cxn modelId="{2BB127FB-5EB0-1748-A368-2D968AC020C1}" type="presOf" srcId="{CEC1C3B7-9789-FA4C-8FBE-B61FE33E48D9}" destId="{20A81CE5-2503-A444-8BC2-0AC5E6BD2757}" srcOrd="0" destOrd="0" presId="urn:microsoft.com/office/officeart/2005/8/layout/process1"/>
    <dgm:cxn modelId="{E22B1242-95CA-3C47-B315-58E07C6DBACE}" type="presParOf" srcId="{715632CF-C22F-8A42-B057-AC618852D70F}" destId="{BA093FAB-2CE1-BA4C-87A1-565E7C64636A}" srcOrd="0" destOrd="0" presId="urn:microsoft.com/office/officeart/2005/8/layout/process1"/>
    <dgm:cxn modelId="{0EA55142-9C9F-1F40-AF99-20A162838638}" type="presParOf" srcId="{715632CF-C22F-8A42-B057-AC618852D70F}" destId="{438EC4F1-F0CA-ED48-8851-CAB050AF5CDA}" srcOrd="1" destOrd="0" presId="urn:microsoft.com/office/officeart/2005/8/layout/process1"/>
    <dgm:cxn modelId="{BC039F35-C210-0741-9218-0271E587586E}" type="presParOf" srcId="{438EC4F1-F0CA-ED48-8851-CAB050AF5CDA}" destId="{A09A801E-69E0-C740-8CC3-E42769BB142C}" srcOrd="0" destOrd="0" presId="urn:microsoft.com/office/officeart/2005/8/layout/process1"/>
    <dgm:cxn modelId="{1FC90A26-0956-0048-9DDD-D3D64FFAF435}" type="presParOf" srcId="{715632CF-C22F-8A42-B057-AC618852D70F}" destId="{20A81CE5-2503-A444-8BC2-0AC5E6BD2757}" srcOrd="2" destOrd="0" presId="urn:microsoft.com/office/officeart/2005/8/layout/process1"/>
    <dgm:cxn modelId="{C89FCB8C-03AD-F842-9A15-9DE3371B153A}" type="presParOf" srcId="{715632CF-C22F-8A42-B057-AC618852D70F}" destId="{1ADE4218-9FAF-4846-8BAB-BC30B2D775E4}" srcOrd="3" destOrd="0" presId="urn:microsoft.com/office/officeart/2005/8/layout/process1"/>
    <dgm:cxn modelId="{881A4535-7976-0548-8917-BB801C9E48E3}" type="presParOf" srcId="{1ADE4218-9FAF-4846-8BAB-BC30B2D775E4}" destId="{3223187A-F968-F841-A73C-C3658A781AB7}" srcOrd="0" destOrd="0" presId="urn:microsoft.com/office/officeart/2005/8/layout/process1"/>
    <dgm:cxn modelId="{6C53E5CD-AE12-7B45-8565-A385B3DD4BA4}" type="presParOf" srcId="{715632CF-C22F-8A42-B057-AC618852D70F}" destId="{768A3C55-AAB9-E748-9EFA-D65C21CE7877}" srcOrd="4" destOrd="0" presId="urn:microsoft.com/office/officeart/2005/8/layout/process1"/>
    <dgm:cxn modelId="{AED80F2D-EA64-9D4D-9059-AE6566B97192}" type="presParOf" srcId="{715632CF-C22F-8A42-B057-AC618852D70F}" destId="{D321D333-C735-534D-BAA8-A492F9A8EF77}" srcOrd="5" destOrd="0" presId="urn:microsoft.com/office/officeart/2005/8/layout/process1"/>
    <dgm:cxn modelId="{1DE2FD72-FE9C-B146-B14B-6F7B86118269}" type="presParOf" srcId="{D321D333-C735-534D-BAA8-A492F9A8EF77}" destId="{39A64D31-3684-7445-ACB8-A055E369E47D}" srcOrd="0" destOrd="0" presId="urn:microsoft.com/office/officeart/2005/8/layout/process1"/>
    <dgm:cxn modelId="{81F7D1D6-0C2A-7849-A2FD-7D7D7A8F17E2}" type="presParOf" srcId="{715632CF-C22F-8A42-B057-AC618852D70F}" destId="{71842EED-BCF2-0A42-8498-A021B022A662}" srcOrd="6" destOrd="0" presId="urn:microsoft.com/office/officeart/2005/8/layout/process1"/>
    <dgm:cxn modelId="{856FEDF0-E7E6-314B-93CC-C98DB7149FD5}" type="presParOf" srcId="{715632CF-C22F-8A42-B057-AC618852D70F}" destId="{F88F1A82-C1B5-E24D-9A60-8BE8D916FDA0}" srcOrd="7" destOrd="0" presId="urn:microsoft.com/office/officeart/2005/8/layout/process1"/>
    <dgm:cxn modelId="{A7A8F0DA-CAA5-0345-A4D0-1FDE1551F509}" type="presParOf" srcId="{F88F1A82-C1B5-E24D-9A60-8BE8D916FDA0}" destId="{86F4CD07-3532-6748-92D7-5517FD825F4F}" srcOrd="0" destOrd="0" presId="urn:microsoft.com/office/officeart/2005/8/layout/process1"/>
    <dgm:cxn modelId="{3869E662-73B4-FF44-AB6D-E2301850B590}" type="presParOf" srcId="{715632CF-C22F-8A42-B057-AC618852D70F}" destId="{65B7F11F-0ED4-E948-9D54-46E227BC8480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093FAB-2CE1-BA4C-87A1-565E7C64636A}">
      <dsp:nvSpPr>
        <dsp:cNvPr id="0" name=""/>
        <dsp:cNvSpPr/>
      </dsp:nvSpPr>
      <dsp:spPr>
        <a:xfrm>
          <a:off x="5205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Submit Proposal</a:t>
          </a:r>
        </a:p>
      </dsp:txBody>
      <dsp:txXfrm>
        <a:off x="33566" y="487547"/>
        <a:ext cx="1557111" cy="911578"/>
      </dsp:txXfrm>
    </dsp:sp>
    <dsp:sp modelId="{438EC4F1-F0CA-ED48-8851-CAB050AF5CDA}">
      <dsp:nvSpPr>
        <dsp:cNvPr id="0" name=""/>
        <dsp:cNvSpPr/>
      </dsp:nvSpPr>
      <dsp:spPr>
        <a:xfrm>
          <a:off x="1780423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780423" y="823267"/>
        <a:ext cx="239492" cy="240138"/>
      </dsp:txXfrm>
    </dsp:sp>
    <dsp:sp modelId="{20A81CE5-2503-A444-8BC2-0AC5E6BD2757}">
      <dsp:nvSpPr>
        <dsp:cNvPr id="0" name=""/>
        <dsp:cNvSpPr/>
      </dsp:nvSpPr>
      <dsp:spPr>
        <a:xfrm>
          <a:off x="2264573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2450223"/>
            <a:satOff val="-10194"/>
            <a:lumOff val="240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Approved by TAs</a:t>
          </a:r>
        </a:p>
      </dsp:txBody>
      <dsp:txXfrm>
        <a:off x="2292934" y="487547"/>
        <a:ext cx="1557111" cy="911578"/>
      </dsp:txXfrm>
    </dsp:sp>
    <dsp:sp modelId="{1ADE4218-9FAF-4846-8BAB-BC30B2D775E4}">
      <dsp:nvSpPr>
        <dsp:cNvPr id="0" name=""/>
        <dsp:cNvSpPr/>
      </dsp:nvSpPr>
      <dsp:spPr>
        <a:xfrm>
          <a:off x="4039790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3266964"/>
            <a:satOff val="-13592"/>
            <a:lumOff val="3203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039790" y="823267"/>
        <a:ext cx="239492" cy="240138"/>
      </dsp:txXfrm>
    </dsp:sp>
    <dsp:sp modelId="{768A3C55-AAB9-E748-9EFA-D65C21CE7877}">
      <dsp:nvSpPr>
        <dsp:cNvPr id="0" name=""/>
        <dsp:cNvSpPr/>
      </dsp:nvSpPr>
      <dsp:spPr>
        <a:xfrm>
          <a:off x="4523940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4900445"/>
            <a:satOff val="-20388"/>
            <a:lumOff val="480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Milestone 1</a:t>
          </a:r>
        </a:p>
      </dsp:txBody>
      <dsp:txXfrm>
        <a:off x="4552301" y="487547"/>
        <a:ext cx="1557111" cy="911578"/>
      </dsp:txXfrm>
    </dsp:sp>
    <dsp:sp modelId="{D321D333-C735-534D-BAA8-A492F9A8EF77}">
      <dsp:nvSpPr>
        <dsp:cNvPr id="0" name=""/>
        <dsp:cNvSpPr/>
      </dsp:nvSpPr>
      <dsp:spPr>
        <a:xfrm>
          <a:off x="6299157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6533927"/>
            <a:satOff val="-27185"/>
            <a:lumOff val="6405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299157" y="823267"/>
        <a:ext cx="239492" cy="240138"/>
      </dsp:txXfrm>
    </dsp:sp>
    <dsp:sp modelId="{71842EED-BCF2-0A42-8498-A021B022A662}">
      <dsp:nvSpPr>
        <dsp:cNvPr id="0" name=""/>
        <dsp:cNvSpPr/>
      </dsp:nvSpPr>
      <dsp:spPr>
        <a:xfrm>
          <a:off x="6783307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7350668"/>
            <a:satOff val="-30583"/>
            <a:lumOff val="7206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Milestone 2</a:t>
          </a:r>
        </a:p>
      </dsp:txBody>
      <dsp:txXfrm>
        <a:off x="6811668" y="487547"/>
        <a:ext cx="1557111" cy="911578"/>
      </dsp:txXfrm>
    </dsp:sp>
    <dsp:sp modelId="{F88F1A82-C1B5-E24D-9A60-8BE8D916FDA0}">
      <dsp:nvSpPr>
        <dsp:cNvPr id="0" name=""/>
        <dsp:cNvSpPr/>
      </dsp:nvSpPr>
      <dsp:spPr>
        <a:xfrm>
          <a:off x="8558525" y="743221"/>
          <a:ext cx="342132" cy="4002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8558525" y="823267"/>
        <a:ext cx="239492" cy="240138"/>
      </dsp:txXfrm>
    </dsp:sp>
    <dsp:sp modelId="{65B7F11F-0ED4-E948-9D54-46E227BC8480}">
      <dsp:nvSpPr>
        <dsp:cNvPr id="0" name=""/>
        <dsp:cNvSpPr/>
      </dsp:nvSpPr>
      <dsp:spPr>
        <a:xfrm>
          <a:off x="9042675" y="459186"/>
          <a:ext cx="1613833" cy="968300"/>
        </a:xfrm>
        <a:prstGeom prst="roundRect">
          <a:avLst>
            <a:gd name="adj" fmla="val 10000"/>
          </a:avLst>
        </a:prstGeom>
        <a:solidFill>
          <a:schemeClr val="accent4">
            <a:hueOff val="9800891"/>
            <a:satOff val="-40777"/>
            <a:lumOff val="960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Report or Presentation</a:t>
          </a:r>
        </a:p>
      </dsp:txBody>
      <dsp:txXfrm>
        <a:off x="9071036" y="487547"/>
        <a:ext cx="1557111" cy="911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7A6A-8806-917F-B174-8EE657801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366ADF-4917-676E-2C68-61FA80A31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09554-EC84-528A-985E-0302FD99A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1B702-D995-A26E-A47B-C64C90B32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550BB-4EC5-EE03-4A44-F362210DE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9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67C0E-D851-7CA4-7BEA-60D7873AA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3C04D-4ED2-7D39-0A2C-D7F39AA8C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81C02-C756-0111-62FC-17BF2CF28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E7C75-17AF-DA8A-1E12-F21FD16C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A4CCF-74E4-24AD-8550-175FE9D94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463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615B-FCCF-482B-7BE8-D7939F7D6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2EB9D-AE58-E327-DA8F-C50B9F5D8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BD68E-15EE-6C29-BD8A-4FFA9FA21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17F35-6E86-2A93-C8B1-1DEEDF65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21564-36A4-F1BB-2E31-F13A5BA54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02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FB2A-D040-0DDC-646B-585CCEF6D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D5E48-BC3D-F444-B1E9-60C8C304B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F29F9-C418-889D-B987-6B41E7594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BD20B-0A5C-6586-FB20-C1CA1DAD5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3F0A0-1375-5B48-7088-A2889E1CD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CA900F-4B39-0CB3-1EAE-2D2FF67C0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292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5B3CD-44FA-76D3-469B-895A6A390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0A57B-D5AE-FDD7-611E-3E1531DB3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BCA57-C1E3-54A9-BE1E-F2DB05E6E1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9F4FB3-FA08-C15C-45B7-E898E9ADBC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0AD3A-534E-3CAB-A346-98D0D2B96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CF0E3F-A790-EADC-8D73-F1B9CCCA6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77337-3248-352D-CF12-BC2E18C30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948203-8B9E-38A3-303A-883855250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69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3069-1F9F-ED96-80CF-D5DE9758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45BE37-AA20-44CD-83EE-72BB41F1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45EBC2-68DD-E493-03BD-27EE0A9DC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BEF18-C16A-5AE2-CE58-B53F6CD4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0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6C8EB-3C71-9459-5EF1-7E95B1278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E5233-568A-E693-91D0-1976E2F5F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CC1C5-265B-B50E-9837-B0F4C3C78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168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4AB62-396E-079C-4846-EB41CE8B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EF14C-16A2-FB5D-2AA1-1A3498137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1D7EE9-F24F-B144-3719-605F22DC0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E5D85F-25C7-5915-6124-06A8D094E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96455-77AF-DFA1-4681-85A19F2D8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82401-6AA7-55AA-3085-1838D824D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4055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6710-900A-B733-475A-B184E1949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CB5670-EF37-8594-BA27-94227AC029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0A9BE-0CD5-366E-0353-897D54B71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01362-CFFA-9AB1-C3A8-0BC65304A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6313F-F64D-D0E1-BF4F-A4404A068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F07FE-EAF7-C11B-E7D6-03B79EFC5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46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4A04A-3C85-97AA-8F76-10F5232CF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1CC602-0A73-64D9-83EA-B031A968E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93E5C-D08A-C83E-0E4D-87A62B547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7D7C9-B06E-C81B-78FA-06841B91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7073-3515-2642-7F67-547D1D0C2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151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66A42A-26AE-BE7B-2BD6-132D0BCDB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1591BC-A642-8A7A-9738-67ED4632C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697C3-3BFB-DF6F-4044-F3CB66067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46642-8062-D60F-24A3-CFCB93D9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9E424-7F61-E636-75EB-3533D7832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336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05C30-04CE-D0EF-0A12-FEE6C497E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AF52C-CD4A-C5C2-1AAB-CA31DBA043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0FDB7-4918-A203-3308-81E3185C14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A93FC9-7B90-5048-8A30-84CB7E289D67}" type="datetimeFigureOut">
              <a:t>1/20/26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F8B64-1620-9EC6-A346-17667284FD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8875-BD98-FFF0-26EC-CF34A7CE2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06805A-B372-F244-84CD-8199658850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90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columbia.edu/~bau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www.publicdomainpictures.net/view-image.php?image=88234&amp;picture=you-are-here-graffiti" TargetMode="External"/><Relationship Id="rId7" Type="http://schemas.openxmlformats.org/officeDocument/2006/relationships/hyperlink" Target="https://www.pngall.com/learning-png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freepngimg.com/png/78155-icons-light-idea-computer-lighting-incandescent-bulb" TargetMode="External"/><Relationship Id="rId4" Type="http://schemas.openxmlformats.org/officeDocument/2006/relationships/image" Target="../media/image3.png"/><Relationship Id="rId9" Type="http://schemas.openxmlformats.org/officeDocument/2006/relationships/hyperlink" Target="https://www.pngall.com/engineer-pn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ourseworks2.columbia.edu/courses/237696/pages/python-basics-checklist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io.columbia.edu/catalog/ebs2467537e" TargetMode="Externa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dafruit.com/product/1089" TargetMode="External"/><Relationship Id="rId3" Type="http://schemas.openxmlformats.org/officeDocument/2006/relationships/hyperlink" Target="https://www.dataquest.io/path/data-analyst/" TargetMode="External"/><Relationship Id="rId7" Type="http://schemas.openxmlformats.org/officeDocument/2006/relationships/hyperlink" Target="https://www.amazon.com/dp/B00YEVZ6UK" TargetMode="External"/><Relationship Id="rId2" Type="http://schemas.openxmlformats.org/officeDocument/2006/relationships/hyperlink" Target="https://github.com/norvig/pytud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ygame.org/wiki/tutorials" TargetMode="External"/><Relationship Id="rId5" Type="http://schemas.openxmlformats.org/officeDocument/2006/relationships/hyperlink" Target="https://www.tangowithdjango.com/" TargetMode="External"/><Relationship Id="rId4" Type="http://schemas.openxmlformats.org/officeDocument/2006/relationships/hyperlink" Target="https://scikit-learn.org/stable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4FBBCC-6331-9C6E-A0EF-B45DBE12E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23" y="212037"/>
            <a:ext cx="2479972" cy="248303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B1476BB-6946-C959-0ED7-F0F348154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2362"/>
            <a:ext cx="9144000" cy="2387600"/>
          </a:xfrm>
        </p:spPr>
        <p:txBody>
          <a:bodyPr/>
          <a:lstStyle/>
          <a:p>
            <a:r>
              <a:rPr lang="en-US" dirty="0"/>
              <a:t>COMS 2132: </a:t>
            </a:r>
            <a:r>
              <a:rPr lang="en-US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Advanced</a:t>
            </a:r>
            <a:r>
              <a:rPr lang="en-US" dirty="0"/>
              <a:t> Computing in Python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CF75F-CD34-E7AC-F378-D91EC1B178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7445"/>
            <a:ext cx="9144000" cy="806017"/>
          </a:xfrm>
        </p:spPr>
        <p:txBody>
          <a:bodyPr>
            <a:normAutofit fontScale="77500" lnSpcReduction="20000"/>
          </a:bodyPr>
          <a:lstStyle/>
          <a:p>
            <a:r>
              <a:rPr lang="en-US" sz="3200" dirty="0"/>
              <a:t>Columbia University</a:t>
            </a:r>
          </a:p>
          <a:p>
            <a:r>
              <a:rPr lang="en-US" sz="3200" dirty="0"/>
              <a:t>Spring 2026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A56659-5286-CFB5-94EF-0D340C0EAFEC}"/>
              </a:ext>
            </a:extLst>
          </p:cNvPr>
          <p:cNvSpPr txBox="1"/>
          <p:nvPr/>
        </p:nvSpPr>
        <p:spPr>
          <a:xfrm rot="20756072">
            <a:off x="6383513" y="1371473"/>
            <a:ext cx="41563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C00000"/>
                </a:solidFill>
                <a:latin typeface="+mj-lt"/>
              </a:rPr>
              <a:t>Intermediate</a:t>
            </a:r>
            <a:endParaRPr lang="en-US" sz="14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F0320CB-1E4F-B808-7B6E-019AF8167D07}"/>
              </a:ext>
            </a:extLst>
          </p:cNvPr>
          <p:cNvSpPr txBox="1">
            <a:spLocks/>
          </p:cNvSpPr>
          <p:nvPr/>
        </p:nvSpPr>
        <p:spPr>
          <a:xfrm>
            <a:off x="1524000" y="5570945"/>
            <a:ext cx="9144000" cy="806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Dr. Daniel Bauer</a:t>
            </a:r>
          </a:p>
        </p:txBody>
      </p:sp>
    </p:spTree>
    <p:extLst>
      <p:ext uri="{BB962C8B-B14F-4D97-AF65-F5344CB8AC3E}">
        <p14:creationId xmlns:p14="http://schemas.microsoft.com/office/powerpoint/2010/main" val="1931116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82FC0-E02D-99A8-4417-238172B0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Teaching Team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72EA7-1F51-AD30-9391-B8C19AD21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11493"/>
            <a:ext cx="8255624" cy="4194819"/>
          </a:xfrm>
        </p:spPr>
        <p:txBody>
          <a:bodyPr anchor="t">
            <a:normAutofit/>
          </a:bodyPr>
          <a:lstStyle/>
          <a:p>
            <a:r>
              <a:rPr lang="en-US" sz="2400" dirty="0"/>
              <a:t>Dr. Daniel Bauer  &lt;</a:t>
            </a:r>
            <a:r>
              <a:rPr lang="en-US" sz="2400" dirty="0" err="1"/>
              <a:t>bauer@cs.columbia.edu</a:t>
            </a:r>
            <a:r>
              <a:rPr lang="en-US" sz="2400" dirty="0"/>
              <a:t>&gt;</a:t>
            </a:r>
            <a:br>
              <a:rPr lang="en-US" sz="2400" dirty="0"/>
            </a:br>
            <a:r>
              <a:rPr lang="en-US" sz="2400" dirty="0"/>
              <a:t>(</a:t>
            </a:r>
            <a:r>
              <a:rPr lang="en-US" sz="2400" b="0" i="0" dirty="0">
                <a:effectLst/>
              </a:rPr>
              <a:t>Senior Lecturer in Computer Science) </a:t>
            </a:r>
            <a:br>
              <a:rPr lang="en-US" sz="2400" b="0" i="0" dirty="0">
                <a:effectLst/>
              </a:rPr>
            </a:br>
            <a:r>
              <a:rPr lang="en-US" sz="2400" b="0" i="0" dirty="0">
                <a:effectLst/>
                <a:hlinkClick r:id="rId2"/>
              </a:rPr>
              <a:t>https://www.cs.columbia.edu/~bauer</a:t>
            </a:r>
            <a:br>
              <a:rPr lang="en-US" sz="2400" b="0" i="0" dirty="0">
                <a:effectLst/>
              </a:rPr>
            </a:br>
            <a:r>
              <a:rPr lang="en-US" sz="2400" dirty="0"/>
              <a:t>Office: 704 CEPSR, Office Hours Monday 1:15-3:00pm</a:t>
            </a:r>
          </a:p>
          <a:p>
            <a:endParaRPr lang="en-US" sz="2400" b="0" i="0" dirty="0">
              <a:effectLst/>
            </a:endParaRPr>
          </a:p>
          <a:p>
            <a:r>
              <a:rPr lang="en-US" sz="2400" b="0" i="0" dirty="0">
                <a:effectLst/>
              </a:rPr>
              <a:t>Assistants:</a:t>
            </a:r>
          </a:p>
          <a:p>
            <a:pPr marL="0" indent="0">
              <a:buNone/>
            </a:pPr>
            <a:endParaRPr lang="en-US" sz="2400" b="0" i="0" dirty="0"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77C9A7F-34DC-9047-52C0-135394DD2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825738"/>
              </p:ext>
            </p:extLst>
          </p:nvPr>
        </p:nvGraphicFramePr>
        <p:xfrm>
          <a:off x="2862469" y="3965216"/>
          <a:ext cx="5730087" cy="2352757"/>
        </p:xfrm>
        <a:graphic>
          <a:graphicData uri="http://schemas.openxmlformats.org/drawingml/2006/table">
            <a:tbl>
              <a:tblPr bandRow="1">
                <a:tableStyleId>{9D7B26C5-4107-4FEC-AEDC-1716B250A1EF}</a:tableStyleId>
              </a:tblPr>
              <a:tblGrid>
                <a:gridCol w="2783312">
                  <a:extLst>
                    <a:ext uri="{9D8B030D-6E8A-4147-A177-3AD203B41FA5}">
                      <a16:colId xmlns:a16="http://schemas.microsoft.com/office/drawing/2014/main" val="2201413830"/>
                    </a:ext>
                  </a:extLst>
                </a:gridCol>
                <a:gridCol w="2946775">
                  <a:extLst>
                    <a:ext uri="{9D8B030D-6E8A-4147-A177-3AD203B41FA5}">
                      <a16:colId xmlns:a16="http://schemas.microsoft.com/office/drawing/2014/main" val="415310621"/>
                    </a:ext>
                  </a:extLst>
                </a:gridCol>
              </a:tblGrid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dirty="0">
                          <a:effectLst/>
                        </a:rPr>
                        <a:t>Aditi Chowdhuri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anc2207@columbia.edu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765562205"/>
                  </a:ext>
                </a:extLst>
              </a:tr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Irene Nam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yn2334@columbia.edu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36303084"/>
                  </a:ext>
                </a:extLst>
              </a:tr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Olivia Huang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dirty="0">
                          <a:effectLst/>
                        </a:rPr>
                        <a:t>oh2251@columbia.edu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385080853"/>
                  </a:ext>
                </a:extLst>
              </a:tr>
              <a:tr h="450907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Kristy Martinez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kpm2155@columbia.edu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05642697"/>
                  </a:ext>
                </a:extLst>
              </a:tr>
              <a:tr h="549129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>
                          <a:effectLst/>
                        </a:rPr>
                        <a:t>Sophie Pan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en-US" dirty="0">
                          <a:effectLst/>
                        </a:rPr>
                        <a:t>sxp2000@columbia.edu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863318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8948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A red and white sign with a white background&#10;&#10;Description automatically generated">
            <a:extLst>
              <a:ext uri="{FF2B5EF4-FFF2-40B4-BE49-F238E27FC236}">
                <a16:creationId xmlns:a16="http://schemas.microsoft.com/office/drawing/2014/main" id="{B0D7790A-8A16-0A3E-40A8-535636C936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682437" y="978027"/>
            <a:ext cx="1139496" cy="1139496"/>
          </a:xfrm>
          <a:prstGeom prst="rect">
            <a:avLst/>
          </a:prstGeom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8DAD0F67-8B1B-3DE6-FB09-AF4938B70424}"/>
              </a:ext>
            </a:extLst>
          </p:cNvPr>
          <p:cNvSpPr/>
          <p:nvPr/>
        </p:nvSpPr>
        <p:spPr>
          <a:xfrm>
            <a:off x="6037244" y="2119105"/>
            <a:ext cx="2435629" cy="3399905"/>
          </a:xfrm>
          <a:prstGeom prst="rect">
            <a:avLst/>
          </a:prstGeom>
          <a:ln w="381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/>
              <a:t>COMS W2132 (NEW!)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316289-F3B1-6614-26D4-EE0398B9E04F}"/>
              </a:ext>
            </a:extLst>
          </p:cNvPr>
          <p:cNvSpPr/>
          <p:nvPr/>
        </p:nvSpPr>
        <p:spPr>
          <a:xfrm>
            <a:off x="2833006" y="4156997"/>
            <a:ext cx="2435629" cy="2502220"/>
          </a:xfrm>
          <a:prstGeom prst="rect">
            <a:avLst/>
          </a:prstGeom>
          <a:ln w="38100"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/>
              <a:t>ENGI E1006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C1F569-B369-E408-A5A0-3D2EB54D112D}"/>
              </a:ext>
            </a:extLst>
          </p:cNvPr>
          <p:cNvSpPr/>
          <p:nvPr/>
        </p:nvSpPr>
        <p:spPr>
          <a:xfrm>
            <a:off x="2833006" y="1456425"/>
            <a:ext cx="2435629" cy="2335877"/>
          </a:xfrm>
          <a:prstGeom prst="rect">
            <a:avLst/>
          </a:prstGeom>
          <a:ln w="38100">
            <a:solidFill>
              <a:schemeClr val="accent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/>
              <a:t>COMS W1002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A7E51A-FE22-818A-241B-FBE51832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68696"/>
          </a:xfrm>
        </p:spPr>
        <p:txBody>
          <a:bodyPr/>
          <a:lstStyle/>
          <a:p>
            <a:r>
              <a:rPr lang="en-US"/>
              <a:t>Columbia Curriculum for CS Non-majors</a:t>
            </a:r>
          </a:p>
        </p:txBody>
      </p:sp>
      <p:pic>
        <p:nvPicPr>
          <p:cNvPr id="14" name="Picture 13" descr="A light bulb with rays of light&#10;&#10;Description automatically generated">
            <a:extLst>
              <a:ext uri="{FF2B5EF4-FFF2-40B4-BE49-F238E27FC236}">
                <a16:creationId xmlns:a16="http://schemas.microsoft.com/office/drawing/2014/main" id="{84A698A8-86AD-45E0-ABDC-6C2DF0983F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9555571" y="2801225"/>
            <a:ext cx="1605742" cy="1605742"/>
          </a:xfrm>
          <a:prstGeom prst="rect">
            <a:avLst/>
          </a:prstGeom>
        </p:spPr>
      </p:pic>
      <p:pic>
        <p:nvPicPr>
          <p:cNvPr id="28" name="Picture 27" descr="A person holding a book&#10;&#10;Description automatically generated">
            <a:extLst>
              <a:ext uri="{FF2B5EF4-FFF2-40B4-BE49-F238E27FC236}">
                <a16:creationId xmlns:a16="http://schemas.microsoft.com/office/drawing/2014/main" id="{BE8421DA-DAEF-5B00-D7FC-38C4A538A0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54416" y="1854160"/>
            <a:ext cx="1428945" cy="1428945"/>
          </a:xfrm>
          <a:prstGeom prst="rect">
            <a:avLst/>
          </a:prstGeom>
        </p:spPr>
      </p:pic>
      <p:pic>
        <p:nvPicPr>
          <p:cNvPr id="31" name="Picture 30" descr="A person wearing a hard hat&#10;&#10;Description automatically generated">
            <a:extLst>
              <a:ext uri="{FF2B5EF4-FFF2-40B4-BE49-F238E27FC236}">
                <a16:creationId xmlns:a16="http://schemas.microsoft.com/office/drawing/2014/main" id="{3B3EC32F-EA57-60CF-92AC-2D0E22415D5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654415" y="4581456"/>
            <a:ext cx="1428946" cy="1428946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38AC077-8134-92F7-EAF9-CE85F34B96D9}"/>
              </a:ext>
            </a:extLst>
          </p:cNvPr>
          <p:cNvSpPr txBox="1"/>
          <p:nvPr/>
        </p:nvSpPr>
        <p:spPr>
          <a:xfrm>
            <a:off x="3055786" y="1934439"/>
            <a:ext cx="1923010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Python Basics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970474E-A650-3BE9-6647-5D5DFBBB1847}"/>
              </a:ext>
            </a:extLst>
          </p:cNvPr>
          <p:cNvSpPr txBox="1"/>
          <p:nvPr/>
        </p:nvSpPr>
        <p:spPr>
          <a:xfrm>
            <a:off x="3055786" y="2370777"/>
            <a:ext cx="1923011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Art</a:t>
            </a:r>
          </a:p>
          <a:p>
            <a:pPr algn="ctr"/>
            <a:r>
              <a:rPr lang="en-US"/>
              <a:t>Economics Linguistics</a:t>
            </a:r>
          </a:p>
          <a:p>
            <a:pPr algn="ctr"/>
            <a:r>
              <a:rPr lang="en-US"/>
              <a:t>Social Sciences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D88B352-F9EE-DD0D-FB05-D84E3834C8EE}"/>
              </a:ext>
            </a:extLst>
          </p:cNvPr>
          <p:cNvSpPr txBox="1"/>
          <p:nvPr/>
        </p:nvSpPr>
        <p:spPr>
          <a:xfrm>
            <a:off x="3089317" y="4507037"/>
            <a:ext cx="1923010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Python Basics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21F343-4BEA-3F91-B373-DBA0F58B32BD}"/>
              </a:ext>
            </a:extLst>
          </p:cNvPr>
          <p:cNvSpPr txBox="1"/>
          <p:nvPr/>
        </p:nvSpPr>
        <p:spPr>
          <a:xfrm>
            <a:off x="3089316" y="5044111"/>
            <a:ext cx="1923011" cy="120032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 Processing</a:t>
            </a:r>
          </a:p>
          <a:p>
            <a:pPr algn="ctr"/>
            <a:r>
              <a:rPr lang="en-US" dirty="0"/>
              <a:t>Machine Learning</a:t>
            </a:r>
          </a:p>
          <a:p>
            <a:pPr algn="ctr"/>
            <a:r>
              <a:rPr lang="en-US" dirty="0"/>
              <a:t>Visualization</a:t>
            </a:r>
          </a:p>
          <a:p>
            <a:pPr algn="ctr"/>
            <a:r>
              <a:rPr lang="en-US" dirty="0"/>
              <a:t>Networking</a:t>
            </a:r>
          </a:p>
        </p:txBody>
      </p:sp>
      <p:sp>
        <p:nvSpPr>
          <p:cNvPr id="41" name="Right Arrow 40">
            <a:extLst>
              <a:ext uri="{FF2B5EF4-FFF2-40B4-BE49-F238E27FC236}">
                <a16:creationId xmlns:a16="http://schemas.microsoft.com/office/drawing/2014/main" id="{83B33711-9D26-7C16-BE08-15FA60DBE070}"/>
              </a:ext>
            </a:extLst>
          </p:cNvPr>
          <p:cNvSpPr/>
          <p:nvPr/>
        </p:nvSpPr>
        <p:spPr>
          <a:xfrm>
            <a:off x="2253875" y="2370777"/>
            <a:ext cx="467741" cy="314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>
            <a:extLst>
              <a:ext uri="{FF2B5EF4-FFF2-40B4-BE49-F238E27FC236}">
                <a16:creationId xmlns:a16="http://schemas.microsoft.com/office/drawing/2014/main" id="{1A7772AE-E14D-2C85-C5C7-BDDF152DA860}"/>
              </a:ext>
            </a:extLst>
          </p:cNvPr>
          <p:cNvSpPr/>
          <p:nvPr/>
        </p:nvSpPr>
        <p:spPr>
          <a:xfrm>
            <a:off x="2224313" y="5042975"/>
            <a:ext cx="467741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56B25D-C7A5-EAE1-B3CF-AB03FC30342B}"/>
              </a:ext>
            </a:extLst>
          </p:cNvPr>
          <p:cNvSpPr txBox="1"/>
          <p:nvPr/>
        </p:nvSpPr>
        <p:spPr>
          <a:xfrm>
            <a:off x="741152" y="1484828"/>
            <a:ext cx="1255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Humanities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ED6DCC-7F84-D655-1FA6-D5808AB6D7AB}"/>
              </a:ext>
            </a:extLst>
          </p:cNvPr>
          <p:cNvSpPr txBox="1"/>
          <p:nvPr/>
        </p:nvSpPr>
        <p:spPr>
          <a:xfrm>
            <a:off x="720313" y="6010402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Engineering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8F6977-AA70-56B5-6B05-94B03A8E9B53}"/>
              </a:ext>
            </a:extLst>
          </p:cNvPr>
          <p:cNvSpPr txBox="1"/>
          <p:nvPr/>
        </p:nvSpPr>
        <p:spPr>
          <a:xfrm>
            <a:off x="6290680" y="2584066"/>
            <a:ext cx="1923010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Python Software Engineering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3EB4C8-C67D-8BD2-7374-307309EBC993}"/>
              </a:ext>
            </a:extLst>
          </p:cNvPr>
          <p:cNvSpPr txBox="1"/>
          <p:nvPr/>
        </p:nvSpPr>
        <p:spPr>
          <a:xfrm>
            <a:off x="6290680" y="3571106"/>
            <a:ext cx="1923010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 Structures and Algorithms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6A4402-C165-04C6-F720-B211B432C060}"/>
              </a:ext>
            </a:extLst>
          </p:cNvPr>
          <p:cNvSpPr txBox="1"/>
          <p:nvPr/>
        </p:nvSpPr>
        <p:spPr>
          <a:xfrm>
            <a:off x="6290680" y="4591243"/>
            <a:ext cx="1923010" cy="646331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Context-Specific Individual Project</a:t>
            </a:r>
          </a:p>
        </p:txBody>
      </p:sp>
      <p:sp>
        <p:nvSpPr>
          <p:cNvPr id="49" name="Right Arrow 48">
            <a:extLst>
              <a:ext uri="{FF2B5EF4-FFF2-40B4-BE49-F238E27FC236}">
                <a16:creationId xmlns:a16="http://schemas.microsoft.com/office/drawing/2014/main" id="{81AE9C7D-9451-C706-909D-0E0A19D59A5F}"/>
              </a:ext>
            </a:extLst>
          </p:cNvPr>
          <p:cNvSpPr/>
          <p:nvPr/>
        </p:nvSpPr>
        <p:spPr>
          <a:xfrm rot="1165935">
            <a:off x="5436419" y="2636850"/>
            <a:ext cx="467741" cy="3370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ight Arrow 49">
            <a:extLst>
              <a:ext uri="{FF2B5EF4-FFF2-40B4-BE49-F238E27FC236}">
                <a16:creationId xmlns:a16="http://schemas.microsoft.com/office/drawing/2014/main" id="{57FE6995-7363-15F6-5F16-855D2F39014A}"/>
              </a:ext>
            </a:extLst>
          </p:cNvPr>
          <p:cNvSpPr/>
          <p:nvPr/>
        </p:nvSpPr>
        <p:spPr>
          <a:xfrm rot="20324817">
            <a:off x="5390641" y="4851165"/>
            <a:ext cx="467741" cy="3384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ight Arrow 50">
            <a:extLst>
              <a:ext uri="{FF2B5EF4-FFF2-40B4-BE49-F238E27FC236}">
                <a16:creationId xmlns:a16="http://schemas.microsoft.com/office/drawing/2014/main" id="{1030A1BE-8817-AD67-8B06-530A1778663A}"/>
              </a:ext>
            </a:extLst>
          </p:cNvPr>
          <p:cNvSpPr/>
          <p:nvPr/>
        </p:nvSpPr>
        <p:spPr>
          <a:xfrm>
            <a:off x="8631701" y="3507396"/>
            <a:ext cx="765042" cy="4012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957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3799-046C-5E91-9580-BB74C4638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this Course About?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67C0A-3739-8426-450A-481C1CCE0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0439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“Intermediate course in computing for CS non-majors”</a:t>
            </a:r>
          </a:p>
          <a:p>
            <a:r>
              <a:rPr lang="en-US" dirty="0"/>
              <a:t>A follow-up course to COMS W1002 and ENGI E1006</a:t>
            </a:r>
          </a:p>
          <a:p>
            <a:pPr lvl="1"/>
            <a:r>
              <a:rPr lang="en-US" dirty="0"/>
              <a:t>You asked for it, we listened…</a:t>
            </a:r>
          </a:p>
          <a:p>
            <a:pPr lvl="1"/>
            <a:r>
              <a:rPr lang="en-US" dirty="0"/>
              <a:t>Fill a gap in Columbia’s Python curriculum</a:t>
            </a:r>
          </a:p>
          <a:p>
            <a:r>
              <a:rPr lang="en-US" dirty="0"/>
              <a:t>Introduction to Python software engineering</a:t>
            </a:r>
          </a:p>
          <a:p>
            <a:r>
              <a:rPr lang="en-US" dirty="0"/>
              <a:t>Essential data structures and algorithms in Python</a:t>
            </a:r>
          </a:p>
          <a:p>
            <a:pPr lvl="1"/>
            <a:r>
              <a:rPr lang="en-US" dirty="0"/>
              <a:t>Practical alternative to CS Java data structure classes (COMS 3134 / 3137)</a:t>
            </a:r>
          </a:p>
          <a:p>
            <a:r>
              <a:rPr lang="en-US" dirty="0"/>
              <a:t>4-6-week individual project to deepen your Python skills</a:t>
            </a:r>
          </a:p>
          <a:p>
            <a:pPr lvl="1"/>
            <a:r>
              <a:rPr lang="en-US" dirty="0"/>
              <a:t>Learn to design, develop, and publish a Python project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356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D7E87-4B07-1F82-9124-B5B04DCD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9940"/>
            <a:ext cx="10515600" cy="1325563"/>
          </a:xfrm>
        </p:spPr>
        <p:txBody>
          <a:bodyPr/>
          <a:lstStyle/>
          <a:p>
            <a:r>
              <a:rPr lang="en-US"/>
              <a:t>This Course is NOT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9B962-BD00-8B08-FB55-EAF26DA7D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66941"/>
            <a:ext cx="10515600" cy="323682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Python language basics. </a:t>
            </a:r>
          </a:p>
          <a:p>
            <a:pPr>
              <a:lnSpc>
                <a:spcPct val="200000"/>
              </a:lnSpc>
            </a:pPr>
            <a:r>
              <a:rPr lang="en-US" dirty="0"/>
              <a:t>Rigorous theory of data structures and algorithms.</a:t>
            </a:r>
          </a:p>
          <a:p>
            <a:pPr>
              <a:lnSpc>
                <a:spcPct val="200000"/>
              </a:lnSpc>
            </a:pPr>
            <a:r>
              <a:rPr lang="en-US" dirty="0"/>
              <a:t>Passive learning (you will need to write programs and design / work on your own project)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3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946F84B-7439-DBE1-4F05-599A41BA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E33C9-030B-26B1-8AF1-F6A3BE7CE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en-US" sz="5400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7EBC0-A399-260F-E9C8-A7B374B9D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11493"/>
            <a:ext cx="8255624" cy="4194819"/>
          </a:xfrm>
        </p:spPr>
        <p:txBody>
          <a:bodyPr anchor="t">
            <a:normAutofit/>
          </a:bodyPr>
          <a:lstStyle/>
          <a:p>
            <a:endParaRPr lang="en-US" sz="2400" b="0" i="0" dirty="0">
              <a:effectLst/>
            </a:endParaRPr>
          </a:p>
          <a:p>
            <a:r>
              <a:rPr lang="en-US" sz="2400" dirty="0"/>
              <a:t>Supported by a DSI / Columbia Entrepreneurship Collaboratory Grant for New Course development </a:t>
            </a:r>
          </a:p>
          <a:p>
            <a:pPr lvl="1"/>
            <a:r>
              <a:rPr lang="en-US" sz="2000" b="0" i="0" dirty="0">
                <a:effectLst/>
              </a:rPr>
              <a:t>Led by Adam Cannon, Jan </a:t>
            </a:r>
            <a:r>
              <a:rPr lang="en-US" sz="2000" dirty="0"/>
              <a:t>Janak, and involving faculty from a variety of fields. </a:t>
            </a:r>
          </a:p>
        </p:txBody>
      </p:sp>
    </p:spTree>
    <p:extLst>
      <p:ext uri="{BB962C8B-B14F-4D97-AF65-F5344CB8AC3E}">
        <p14:creationId xmlns:p14="http://schemas.microsoft.com/office/powerpoint/2010/main" val="27624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A7012-EF15-9ABF-ACE2-3CF8BC183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53840-3601-BABE-9C5C-16D80035E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97025"/>
            <a:ext cx="10515600" cy="4485723"/>
          </a:xfrm>
        </p:spPr>
        <p:txBody>
          <a:bodyPr>
            <a:noAutofit/>
          </a:bodyPr>
          <a:lstStyle/>
          <a:p>
            <a:r>
              <a:rPr lang="en-US" dirty="0"/>
              <a:t>By the end of the course, you should be able to: </a:t>
            </a:r>
          </a:p>
          <a:p>
            <a:pPr lvl="1"/>
            <a:r>
              <a:rPr lang="en-US" sz="2800" dirty="0"/>
              <a:t>understand essential data structures (linked lists, stacks, queues, trees, graphs) and fundamental algorithm analysis.</a:t>
            </a:r>
          </a:p>
          <a:p>
            <a:pPr lvl="1"/>
            <a:r>
              <a:rPr lang="en-US" sz="2800" dirty="0"/>
              <a:t>implement the data structures and corresponding algorithms in Python.</a:t>
            </a:r>
          </a:p>
          <a:p>
            <a:pPr lvl="1"/>
            <a:r>
              <a:rPr lang="en-US" sz="2800" dirty="0"/>
              <a:t>use functional and conceptual abstraction to design and incrementally implement a non-trivial software projects. </a:t>
            </a:r>
          </a:p>
          <a:p>
            <a:pPr lvl="1"/>
            <a:r>
              <a:rPr lang="en-US" sz="2800" dirty="0"/>
              <a:t>use version control (Git), debugging (PDB, </a:t>
            </a:r>
            <a:r>
              <a:rPr lang="en-US" sz="2800" dirty="0" err="1"/>
              <a:t>debugpy</a:t>
            </a:r>
            <a:r>
              <a:rPr lang="en-US" sz="2800" dirty="0"/>
              <a:t>) and documentation tools (</a:t>
            </a:r>
            <a:r>
              <a:rPr lang="en-US" sz="2800" dirty="0" err="1"/>
              <a:t>Pydoc</a:t>
            </a:r>
            <a:r>
              <a:rPr lang="en-US" sz="2800" dirty="0"/>
              <a:t>, Sphinx).</a:t>
            </a:r>
          </a:p>
          <a:p>
            <a:pPr lvl="1"/>
            <a:r>
              <a:rPr lang="en-US" sz="2800" dirty="0"/>
              <a:t>use generative AI productively to aid incremental software development. </a:t>
            </a:r>
            <a:endParaRPr lang="en-US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6016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3D8B4-B31E-FF17-41DA-639E2C73B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1892F-3B4E-E0B4-24BC-7163E16DD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71141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This is a relatively new course.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Based on requests from COMS W1002 and ENGI E1006 students</a:t>
            </a:r>
          </a:p>
          <a:p>
            <a:pPr>
              <a:lnSpc>
                <a:spcPct val="150000"/>
              </a:lnSpc>
            </a:pPr>
            <a:r>
              <a:rPr lang="en-US" dirty="0"/>
              <a:t>Please expect adjustments, changes, and course corrections</a:t>
            </a:r>
          </a:p>
          <a:p>
            <a:pPr>
              <a:lnSpc>
                <a:spcPct val="150000"/>
              </a:lnSpc>
            </a:pPr>
            <a:r>
              <a:rPr lang="en-US" dirty="0"/>
              <a:t>Feedback is greatly appreciated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E0303A-D57E-FC32-B5FB-FFAA361C8B59}"/>
              </a:ext>
            </a:extLst>
          </p:cNvPr>
          <p:cNvSpPr txBox="1"/>
          <p:nvPr/>
        </p:nvSpPr>
        <p:spPr>
          <a:xfrm>
            <a:off x="1152698" y="4757506"/>
            <a:ext cx="10201102" cy="12003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Appeal to CS non-majors: Please help us find a model for W2132 that is useful to you!</a:t>
            </a:r>
          </a:p>
        </p:txBody>
      </p:sp>
    </p:spTree>
    <p:extLst>
      <p:ext uri="{BB962C8B-B14F-4D97-AF65-F5344CB8AC3E}">
        <p14:creationId xmlns:p14="http://schemas.microsoft.com/office/powerpoint/2010/main" val="425699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33750-3C72-3788-20D5-DA9B3581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/ Python 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BC724-669E-ADDC-FEA9-F320D24F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26090"/>
            <a:ext cx="10515600" cy="3653006"/>
          </a:xfrm>
        </p:spPr>
        <p:txBody>
          <a:bodyPr>
            <a:normAutofit fontScale="77500" lnSpcReduction="20000"/>
          </a:bodyPr>
          <a:lstStyle/>
          <a:p>
            <a:pPr marL="571500" indent="-571500">
              <a:buFont typeface="+mj-lt"/>
              <a:buAutoNum type="arabicParenR"/>
            </a:pPr>
            <a:r>
              <a:rPr lang="en-US" dirty="0"/>
              <a:t>Names (variables), values, data types (including lists, tuples, dictionaries)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Statements vs. expressions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Control Structures (</a:t>
            </a:r>
            <a:r>
              <a:rPr lang="en-US" b="1" dirty="0"/>
              <a:t>if, else, </a:t>
            </a:r>
            <a:r>
              <a:rPr lang="en-US" b="1" dirty="0" err="1"/>
              <a:t>elif</a:t>
            </a:r>
            <a:r>
              <a:rPr lang="en-US" dirty="0"/>
              <a:t> statements, </a:t>
            </a:r>
            <a:r>
              <a:rPr lang="en-US" b="1" dirty="0"/>
              <a:t>for</a:t>
            </a:r>
            <a:r>
              <a:rPr lang="en-US" dirty="0"/>
              <a:t> and </a:t>
            </a:r>
            <a:r>
              <a:rPr lang="en-US" b="1" dirty="0"/>
              <a:t>while</a:t>
            </a:r>
            <a:r>
              <a:rPr lang="en-US" dirty="0"/>
              <a:t> loops)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Functions (parameters, return values, function calls)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Files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Exceptions</a:t>
            </a:r>
          </a:p>
          <a:p>
            <a:pPr marL="571500" indent="-571500">
              <a:buFont typeface="+mj-lt"/>
              <a:buAutoNum type="arabicParenR"/>
            </a:pPr>
            <a:r>
              <a:rPr lang="en-US" dirty="0"/>
              <a:t>Classes and instances / objects (basic object-oriented programming)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Review in Lab next week. See topic checklist on </a:t>
            </a:r>
            <a:r>
              <a:rPr lang="en-US" dirty="0" err="1"/>
              <a:t>Courseworks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https://courseworks2.columbia.edu/courses/237696/pages/python-basics-checklist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FF1F95-6AE3-37A9-650D-ED883FAEE6E2}"/>
              </a:ext>
            </a:extLst>
          </p:cNvPr>
          <p:cNvSpPr txBox="1"/>
          <p:nvPr/>
        </p:nvSpPr>
        <p:spPr>
          <a:xfrm>
            <a:off x="1255985" y="1918109"/>
            <a:ext cx="9842939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Concepts you should know from COMS W1002 or ENGI E1006</a:t>
            </a:r>
          </a:p>
        </p:txBody>
      </p:sp>
    </p:spTree>
    <p:extLst>
      <p:ext uri="{BB962C8B-B14F-4D97-AF65-F5344CB8AC3E}">
        <p14:creationId xmlns:p14="http://schemas.microsoft.com/office/powerpoint/2010/main" val="659748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A807-8641-D2AF-4716-BF2AA6FBC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Recommended Textbook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7BCE5-EE0D-5485-6244-290E8C205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8775"/>
            <a:ext cx="6252555" cy="3387506"/>
          </a:xfrm>
        </p:spPr>
        <p:txBody>
          <a:bodyPr/>
          <a:lstStyle/>
          <a:p>
            <a:r>
              <a:rPr lang="en-US" dirty="0"/>
              <a:t>Excellent textbook for CS non-majors !</a:t>
            </a:r>
          </a:p>
          <a:p>
            <a:r>
              <a:rPr lang="en-US" dirty="0"/>
              <a:t>The right level of rigor</a:t>
            </a:r>
          </a:p>
          <a:p>
            <a:r>
              <a:rPr lang="en-US" dirty="0"/>
              <a:t>Lectures will mostly follow the textbook</a:t>
            </a:r>
          </a:p>
          <a:p>
            <a:r>
              <a:rPr lang="en-US" dirty="0"/>
              <a:t>Recommended but not required</a:t>
            </a:r>
          </a:p>
          <a:p>
            <a:r>
              <a:rPr lang="en-US" dirty="0"/>
              <a:t>Columbia Library </a:t>
            </a:r>
            <a:r>
              <a:rPr lang="en-US" dirty="0" err="1"/>
              <a:t>ebook</a:t>
            </a:r>
            <a:r>
              <a:rPr lang="en-US" dirty="0"/>
              <a:t>: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F70CAF3-F2A6-C2C7-B064-B03E6D6D4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208" y="577933"/>
            <a:ext cx="3772591" cy="4900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94CB30-7289-CDFD-A023-D32B925301F4}"/>
              </a:ext>
            </a:extLst>
          </p:cNvPr>
          <p:cNvSpPr txBox="1"/>
          <p:nvPr/>
        </p:nvSpPr>
        <p:spPr>
          <a:xfrm>
            <a:off x="640442" y="5594368"/>
            <a:ext cx="111224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Goodrich, </a:t>
            </a:r>
            <a:r>
              <a:rPr lang="en-US" sz="2000" dirty="0" err="1"/>
              <a:t>Tamassia</a:t>
            </a:r>
            <a:r>
              <a:rPr lang="en-US" sz="2000" dirty="0"/>
              <a:t>, Goldwasser, “</a:t>
            </a:r>
            <a:r>
              <a:rPr lang="en-US" sz="2000" i="1" dirty="0"/>
              <a:t>Data Structures &amp; Algorithms in Python</a:t>
            </a:r>
            <a:r>
              <a:rPr lang="en-US" sz="2000" dirty="0"/>
              <a:t>”, 1</a:t>
            </a:r>
            <a:r>
              <a:rPr lang="en-US" sz="2000" baseline="30000" dirty="0"/>
              <a:t>st</a:t>
            </a:r>
            <a:r>
              <a:rPr lang="en-US" sz="2000" dirty="0"/>
              <a:t> edition, Wiley, 2013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7EE4D5-53BC-79CB-CE82-FF4569D04C74}"/>
              </a:ext>
            </a:extLst>
          </p:cNvPr>
          <p:cNvSpPr txBox="1"/>
          <p:nvPr/>
        </p:nvSpPr>
        <p:spPr>
          <a:xfrm>
            <a:off x="1287379" y="4528887"/>
            <a:ext cx="7351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hlinkClick r:id="rId3"/>
              </a:rPr>
              <a:t>https://</a:t>
            </a:r>
            <a:r>
              <a:rPr lang="en-US" sz="2400" dirty="0" err="1">
                <a:hlinkClick r:id="rId3"/>
              </a:rPr>
              <a:t>clio.columbia.edu</a:t>
            </a:r>
            <a:r>
              <a:rPr lang="en-US" sz="2400" dirty="0">
                <a:hlinkClick r:id="rId3"/>
              </a:rPr>
              <a:t>/catalog/ebs2467537e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36512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20707-81CC-D2B0-9DAD-48583A857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CourseWorks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E6C638-6B89-9F59-C516-26BCAEDCBAB0}"/>
              </a:ext>
            </a:extLst>
          </p:cNvPr>
          <p:cNvSpPr txBox="1"/>
          <p:nvPr/>
        </p:nvSpPr>
        <p:spPr>
          <a:xfrm>
            <a:off x="655320" y="1333321"/>
            <a:ext cx="4123112" cy="5159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Announcements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Syllabus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Important Times &amp; Dates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Contact Information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Course Materials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Homework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Gradebook</a:t>
            </a:r>
          </a:p>
        </p:txBody>
      </p:sp>
    </p:spTree>
    <p:extLst>
      <p:ext uri="{BB962C8B-B14F-4D97-AF65-F5344CB8AC3E}">
        <p14:creationId xmlns:p14="http://schemas.microsoft.com/office/powerpoint/2010/main" val="85413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92550-94D6-277D-E426-468A33D0D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Help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A4C33-B7C4-6820-CCC8-3440572CC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50799"/>
            <a:ext cx="10515600" cy="1824645"/>
          </a:xfrm>
        </p:spPr>
        <p:txBody>
          <a:bodyPr>
            <a:normAutofit/>
          </a:bodyPr>
          <a:lstStyle/>
          <a:p>
            <a:r>
              <a:rPr lang="en-US" sz="3200" dirty="0"/>
              <a:t>Ed Discussions (online forum)</a:t>
            </a:r>
          </a:p>
          <a:p>
            <a:r>
              <a:rPr lang="en-US" sz="3200" dirty="0"/>
              <a:t>TA and Instructor office hours</a:t>
            </a:r>
          </a:p>
          <a:p>
            <a:r>
              <a:rPr lang="en-US" sz="3200" dirty="0"/>
              <a:t>Labs Sessions!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00EFE-2333-48CD-F10F-0595220250E9}"/>
              </a:ext>
            </a:extLst>
          </p:cNvPr>
          <p:cNvSpPr txBox="1"/>
          <p:nvPr/>
        </p:nvSpPr>
        <p:spPr>
          <a:xfrm>
            <a:off x="838200" y="1918389"/>
            <a:ext cx="98672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0" i="0" dirty="0">
                <a:effectLst/>
                <a:latin typeface="-apple-system"/>
              </a:rPr>
              <a:t>Computer science and programming can be difficult for people at all levels.</a:t>
            </a:r>
          </a:p>
          <a:p>
            <a:pPr algn="ctr"/>
            <a:r>
              <a:rPr lang="en-US" sz="2400" b="0" i="0" dirty="0">
                <a:effectLst/>
                <a:latin typeface="-apple-system"/>
              </a:rPr>
              <a:t>Getting stuck is normal!</a:t>
            </a:r>
          </a:p>
          <a:p>
            <a:pPr algn="ctr"/>
            <a:r>
              <a:rPr lang="en-US" sz="2400" b="1" i="0" dirty="0">
                <a:effectLst/>
                <a:latin typeface="-apple-system"/>
              </a:rPr>
              <a:t>Ask for help early and often!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23244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9105-C3DB-6799-4F13-EE93BFF57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Lectures and Labs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A3C77-D6E2-9998-19FE-0AB280236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Lectures: Mon/Wed 10:10am-11::25am, 451 CSB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Labs (Mandatory, pick one – let me know if neither session works for you): 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Fri 4:10-5:25pm, 451 CSB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Tuesday 6:00pm-7:15pm, 480 CSB (smaller room)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Both in-person. Attendance mandatory and graded. If you need to miss a session, please let the instructor know. </a:t>
            </a:r>
          </a:p>
        </p:txBody>
      </p:sp>
    </p:spTree>
    <p:extLst>
      <p:ext uri="{BB962C8B-B14F-4D97-AF65-F5344CB8AC3E}">
        <p14:creationId xmlns:p14="http://schemas.microsoft.com/office/powerpoint/2010/main" val="3512745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53037-5E79-6AA5-F156-28CD212D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80602F8-73EA-2B7B-F5D5-23EE65D225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745991"/>
              </p:ext>
            </p:extLst>
          </p:nvPr>
        </p:nvGraphicFramePr>
        <p:xfrm>
          <a:off x="937940" y="1690688"/>
          <a:ext cx="10078278" cy="462222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039139">
                  <a:extLst>
                    <a:ext uri="{9D8B030D-6E8A-4147-A177-3AD203B41FA5}">
                      <a16:colId xmlns:a16="http://schemas.microsoft.com/office/drawing/2014/main" val="3532595049"/>
                    </a:ext>
                  </a:extLst>
                </a:gridCol>
                <a:gridCol w="5039139">
                  <a:extLst>
                    <a:ext uri="{9D8B030D-6E8A-4147-A177-3AD203B41FA5}">
                      <a16:colId xmlns:a16="http://schemas.microsoft.com/office/drawing/2014/main" val="943510939"/>
                    </a:ext>
                  </a:extLst>
                </a:gridCol>
              </a:tblGrid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3 individual homework assignments, </a:t>
                      </a:r>
                      <a:br>
                        <a:rPr lang="en-US" sz="3200" dirty="0"/>
                      </a:br>
                      <a:r>
                        <a:rPr lang="en-US" sz="3200" dirty="0"/>
                        <a:t>plus ungraded HW0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 24% (8% each)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2751380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Midterm Exam (in class, 65 minutes)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6063274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Final Exam (120 minutes)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5488814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Attendance &amp; Participation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9592694"/>
                  </a:ext>
                </a:extLst>
              </a:tr>
              <a:tr h="666981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34609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0782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3384-4E08-34B6-DBEE-7124FAECC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Individual Homework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EB885-0B2F-9150-AACF-7B0082761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761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Mostly first half of the semester</a:t>
            </a:r>
          </a:p>
          <a:p>
            <a:pPr>
              <a:lnSpc>
                <a:spcPct val="150000"/>
              </a:lnSpc>
            </a:pPr>
            <a:r>
              <a:rPr lang="en-US" dirty="0"/>
              <a:t>Will cover data structures and algorithms, programming and theory</a:t>
            </a:r>
          </a:p>
          <a:p>
            <a:pPr>
              <a:lnSpc>
                <a:spcPct val="150000"/>
              </a:lnSpc>
            </a:pPr>
            <a:r>
              <a:rPr lang="en-US" dirty="0"/>
              <a:t>Must be completed individually</a:t>
            </a:r>
          </a:p>
          <a:p>
            <a:pPr>
              <a:lnSpc>
                <a:spcPct val="150000"/>
              </a:lnSpc>
            </a:pPr>
            <a:r>
              <a:rPr lang="en-US" dirty="0"/>
              <a:t>Two-week windows to complete</a:t>
            </a:r>
          </a:p>
          <a:p>
            <a:pPr>
              <a:lnSpc>
                <a:spcPct val="150000"/>
              </a:lnSpc>
            </a:pPr>
            <a:r>
              <a:rPr lang="en-US" dirty="0"/>
              <a:t>Submit through GitHub Classrooms (to be discussed)</a:t>
            </a:r>
          </a:p>
        </p:txBody>
      </p:sp>
    </p:spTree>
    <p:extLst>
      <p:ext uri="{BB962C8B-B14F-4D97-AF65-F5344CB8AC3E}">
        <p14:creationId xmlns:p14="http://schemas.microsoft.com/office/powerpoint/2010/main" val="4216907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D8217-0D2D-9C90-A4B7-9EF5C5EE5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Honesty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FF5F0-3AF8-AAAA-913B-0B9A4A37C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Part 1, collaboration policy: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Individual homework assignments and project.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You are encouraged to </a:t>
            </a:r>
            <a:r>
              <a:rPr lang="en-US" sz="2600" b="1" dirty="0"/>
              <a:t>discuss</a:t>
            </a:r>
            <a:r>
              <a:rPr lang="en-US" sz="2600" dirty="0"/>
              <a:t> classroom material, problems, and homework with other students, the TAs, and the instructor.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You can work out the theory together on the whiteboard or paper.</a:t>
            </a:r>
          </a:p>
          <a:p>
            <a:pPr lvl="1">
              <a:lnSpc>
                <a:spcPct val="100000"/>
              </a:lnSpc>
            </a:pPr>
            <a:r>
              <a:rPr lang="en-US" sz="2600" b="1" dirty="0"/>
              <a:t>However, you must do all final writing and programming by yourself without further interaction.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Do not share your solutions with others. 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Do not copy anyone else’s work without attribution.</a:t>
            </a:r>
          </a:p>
        </p:txBody>
      </p:sp>
    </p:spTree>
    <p:extLst>
      <p:ext uri="{BB962C8B-B14F-4D97-AF65-F5344CB8AC3E}">
        <p14:creationId xmlns:p14="http://schemas.microsoft.com/office/powerpoint/2010/main" val="2600297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43CEE-9DD4-6777-C816-A109AD44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C1C18-33B9-B8D3-6E87-AC816AD44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Honesty Policy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61945-D1DA-8638-F318-9490CC603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600" dirty="0"/>
              <a:t>Part 2, AI and online resources policy: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LLMs can aid in program development; their use is permitted and encouraged responsibly.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Homework: Avoid problems directly using AI unless specifically requested as part of the assignment. </a:t>
            </a:r>
          </a:p>
          <a:p>
            <a:pPr lvl="2">
              <a:lnSpc>
                <a:spcPct val="100000"/>
              </a:lnSpc>
            </a:pPr>
            <a:r>
              <a:rPr lang="en-US" sz="2600" dirty="0"/>
              <a:t>We need you to learn the fundamentals. Homework as exam prep. </a:t>
            </a:r>
          </a:p>
          <a:p>
            <a:pPr lvl="2">
              <a:lnSpc>
                <a:spcPct val="100000"/>
              </a:lnSpc>
            </a:pPr>
            <a:r>
              <a:rPr lang="en-US" sz="2600" dirty="0"/>
              <a:t>AI can be used for validation/testing. 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Projects: Responsible AI use encouraged (do more with less!) </a:t>
            </a:r>
          </a:p>
          <a:p>
            <a:pPr lvl="1">
              <a:lnSpc>
                <a:spcPct val="100000"/>
              </a:lnSpc>
            </a:pPr>
            <a:r>
              <a:rPr lang="en-US" sz="2600" dirty="0"/>
              <a:t>You must attribute </a:t>
            </a:r>
            <a:r>
              <a:rPr lang="en-US" sz="2600" b="1" dirty="0"/>
              <a:t>any</a:t>
            </a:r>
            <a:r>
              <a:rPr lang="en-US" sz="2600" dirty="0"/>
              <a:t> code taken from an online source </a:t>
            </a:r>
            <a:br>
              <a:rPr lang="en-US" sz="2600" dirty="0"/>
            </a:br>
            <a:r>
              <a:rPr lang="en-US" sz="2600" dirty="0"/>
              <a:t>(full URL, AI prompt, …).</a:t>
            </a:r>
            <a:endParaRPr lang="en-US" sz="2600" b="1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600" dirty="0"/>
          </a:p>
          <a:p>
            <a:pPr marL="457200" lvl="1" indent="0">
              <a:lnSpc>
                <a:spcPct val="100000"/>
              </a:lnSpc>
              <a:buNone/>
            </a:pP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C2C3E0-A10F-805F-C0FE-18FB5A111F16}"/>
              </a:ext>
            </a:extLst>
          </p:cNvPr>
          <p:cNvSpPr txBox="1"/>
          <p:nvPr/>
        </p:nvSpPr>
        <p:spPr>
          <a:xfrm>
            <a:off x="9004852" y="5992297"/>
            <a:ext cx="5287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See syllabus for details!</a:t>
            </a:r>
          </a:p>
        </p:txBody>
      </p:sp>
    </p:spTree>
    <p:extLst>
      <p:ext uri="{BB962C8B-B14F-4D97-AF65-F5344CB8AC3E}">
        <p14:creationId xmlns:p14="http://schemas.microsoft.com/office/powerpoint/2010/main" val="31650074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02D5-387E-CA12-39C7-BD67EC7F2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Project: Workflow on GitHub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E3DF108-C336-4DCC-E730-E2E4EE754A1A}"/>
              </a:ext>
            </a:extLst>
          </p:cNvPr>
          <p:cNvGraphicFramePr/>
          <p:nvPr/>
        </p:nvGraphicFramePr>
        <p:xfrm>
          <a:off x="838200" y="1846423"/>
          <a:ext cx="10661715" cy="1886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B24E6A5-E299-6170-20BB-91C856F392E5}"/>
              </a:ext>
            </a:extLst>
          </p:cNvPr>
          <p:cNvSpPr txBox="1"/>
          <p:nvPr/>
        </p:nvSpPr>
        <p:spPr>
          <a:xfrm>
            <a:off x="838200" y="3555542"/>
            <a:ext cx="15693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README.md in a GitHub repository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3F41BC-9FDC-2293-275F-9E08DF3E99FA}"/>
              </a:ext>
            </a:extLst>
          </p:cNvPr>
          <p:cNvSpPr txBox="1"/>
          <p:nvPr/>
        </p:nvSpPr>
        <p:spPr>
          <a:xfrm>
            <a:off x="3074043" y="3560273"/>
            <a:ext cx="16551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TAs request modifications or approve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5072B-081B-9C42-4908-C44BA74B268B}"/>
              </a:ext>
            </a:extLst>
          </p:cNvPr>
          <p:cNvSpPr txBox="1"/>
          <p:nvPr/>
        </p:nvSpPr>
        <p:spPr>
          <a:xfrm>
            <a:off x="5240064" y="3598152"/>
            <a:ext cx="185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Milestone 1 tag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26547D-317B-B304-380E-17C761ABBCB6}"/>
              </a:ext>
            </a:extLst>
          </p:cNvPr>
          <p:cNvSpPr txBox="1"/>
          <p:nvPr/>
        </p:nvSpPr>
        <p:spPr>
          <a:xfrm>
            <a:off x="7440996" y="3598152"/>
            <a:ext cx="185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Milestone 2 tag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CE29D0-6B69-17EA-D3EA-FEE0A74AF15C}"/>
              </a:ext>
            </a:extLst>
          </p:cNvPr>
          <p:cNvSpPr txBox="1"/>
          <p:nvPr/>
        </p:nvSpPr>
        <p:spPr>
          <a:xfrm>
            <a:off x="9665903" y="3652606"/>
            <a:ext cx="18579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 Release tag</a:t>
            </a:r>
          </a:p>
          <a:p>
            <a:pPr algn="ctr"/>
            <a:r>
              <a:rPr lang="en-US" b="1"/>
              <a:t>(graded)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B6797-FFDE-5194-72E9-2A74308C037C}"/>
              </a:ext>
            </a:extLst>
          </p:cNvPr>
          <p:cNvSpPr txBox="1"/>
          <p:nvPr/>
        </p:nvSpPr>
        <p:spPr>
          <a:xfrm>
            <a:off x="430409" y="5843510"/>
            <a:ext cx="114772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Similar to typical open-source software development workflow on GitHub</a:t>
            </a:r>
          </a:p>
        </p:txBody>
      </p:sp>
      <p:sp>
        <p:nvSpPr>
          <p:cNvPr id="12" name="Double Brace 11">
            <a:extLst>
              <a:ext uri="{FF2B5EF4-FFF2-40B4-BE49-F238E27FC236}">
                <a16:creationId xmlns:a16="http://schemas.microsoft.com/office/drawing/2014/main" id="{7BA02D67-3E61-7064-DF8D-551113B5FF47}"/>
              </a:ext>
            </a:extLst>
          </p:cNvPr>
          <p:cNvSpPr/>
          <p:nvPr/>
        </p:nvSpPr>
        <p:spPr>
          <a:xfrm rot="5400000">
            <a:off x="5779807" y="-1108455"/>
            <a:ext cx="3158564" cy="8570092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3F457-F60F-6222-B17F-0195A3A3B1B1}"/>
              </a:ext>
            </a:extLst>
          </p:cNvPr>
          <p:cNvSpPr txBox="1"/>
          <p:nvPr/>
        </p:nvSpPr>
        <p:spPr>
          <a:xfrm>
            <a:off x="5472415" y="4854127"/>
            <a:ext cx="3773347" cy="36933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/>
              <a:t>Feedback via GitHub comments</a:t>
            </a:r>
          </a:p>
        </p:txBody>
      </p:sp>
    </p:spTree>
    <p:extLst>
      <p:ext uri="{BB962C8B-B14F-4D97-AF65-F5344CB8AC3E}">
        <p14:creationId xmlns:p14="http://schemas.microsoft.com/office/powerpoint/2010/main" val="3274097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88EF8-4BB3-D5CE-6DCB-5E4FB3DB0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 Proposal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E8550-3F51-B5FE-6D3B-173CC35D3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384597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Short </a:t>
            </a:r>
            <a:r>
              <a:rPr lang="en-US" dirty="0" err="1"/>
              <a:t>README.md</a:t>
            </a:r>
            <a:r>
              <a:rPr lang="en-US" dirty="0"/>
              <a:t> addressing the following: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What are you making?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Why is it important, relevant or interesting?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Data structures, tools, libraries, or services you intend to use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Proposed milestones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arenR"/>
            </a:pPr>
            <a:r>
              <a:rPr lang="en-US" dirty="0"/>
              <a:t>Optional: How do you want to publish your work?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EAA5F-B0C7-A54C-7C0D-6A6EC0074B92}"/>
              </a:ext>
            </a:extLst>
          </p:cNvPr>
          <p:cNvSpPr txBox="1"/>
          <p:nvPr/>
        </p:nvSpPr>
        <p:spPr>
          <a:xfrm>
            <a:off x="2743200" y="5926238"/>
            <a:ext cx="6065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We will provide an example when the time comes</a:t>
            </a:r>
          </a:p>
        </p:txBody>
      </p:sp>
    </p:spTree>
    <p:extLst>
      <p:ext uri="{BB962C8B-B14F-4D97-AF65-F5344CB8AC3E}">
        <p14:creationId xmlns:p14="http://schemas.microsoft.com/office/powerpoint/2010/main" val="2859710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401CC-D077-5143-E002-B716F0B8E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Pick a Project?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646DF-FD8A-C448-8A11-EB4417620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>
                <a:solidFill>
                  <a:srgbClr val="222222"/>
                </a:solidFill>
                <a:latin typeface="Open Sans" panose="020B0606030504020204" pitchFamily="34" charset="0"/>
              </a:rPr>
              <a:t>T</a:t>
            </a: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ry to think of a problem that is fun or important to you</a:t>
            </a: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Perhaps there is a tool or a script that you have always wanted?</a:t>
            </a:r>
            <a:endParaRPr lang="en-US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Maybe you have an idea for a web service or website?</a:t>
            </a: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Maybe you have a chore that could be automated?</a:t>
            </a:r>
            <a:endParaRPr lang="en-US">
              <a:solidFill>
                <a:srgbClr val="222222"/>
              </a:solidFill>
              <a:latin typeface="Open Sans" panose="020B060603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If you have a hobby, can you use Python to get better at it?</a:t>
            </a:r>
          </a:p>
          <a:p>
            <a:pPr>
              <a:lnSpc>
                <a:spcPct val="150000"/>
              </a:lnSpc>
            </a:pPr>
            <a:r>
              <a:rPr lang="en-US" b="0" i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There are no bad ideas (only undeveloped). If it is something you want, others probably want it too.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006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Pick a Project Area (examples)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2370193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Computational linguistics / NLP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understand or respond to text, summarization, information extraction, dialog systems, …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2587071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Computational biology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Simulations and modeling of biological systems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5723566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Social sciences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Economics, political science (analyze datasets), education, environmental studies, law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1015213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AI and machine learning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Build AI enabled applications. Experiment with some new dataset. Fine-tune existing models for new applications (e.g. computer vision), …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37348232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Systems, networking, Internet 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Internet services, websites, APIs, network analysis, robotics, IoT (Raspberry Pi?). 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3076823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498975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Data analysis and databases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Analyze or </a:t>
            </a:r>
            <a:r>
              <a:rPr lang="en-US" dirty="0" err="1"/>
              <a:t>visualizae</a:t>
            </a:r>
            <a:r>
              <a:rPr lang="en-US" dirty="0"/>
              <a:t> public datasets, Google </a:t>
            </a:r>
            <a:r>
              <a:rPr lang="en-US" dirty="0" err="1"/>
              <a:t>BigQuery</a:t>
            </a:r>
            <a:r>
              <a:rPr lang="en-US" dirty="0"/>
              <a:t>, and </a:t>
            </a:r>
            <a:r>
              <a:rPr lang="en-US" dirty="0" err="1"/>
              <a:t>Datalab</a:t>
            </a:r>
            <a:endParaRPr lang="en-US" b="1" dirty="0"/>
          </a:p>
          <a:p>
            <a:pPr>
              <a:lnSpc>
                <a:spcPct val="150000"/>
              </a:lnSpc>
            </a:pPr>
            <a:r>
              <a:rPr lang="en-US" dirty="0"/>
              <a:t>Computing in the arts</a:t>
            </a:r>
          </a:p>
        </p:txBody>
      </p:sp>
    </p:spTree>
    <p:extLst>
      <p:ext uri="{BB962C8B-B14F-4D97-AF65-F5344CB8AC3E}">
        <p14:creationId xmlns:p14="http://schemas.microsoft.com/office/powerpoint/2010/main" val="1705223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354FC7-2911-1FEF-3C9B-C4310463B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Pick a Project Area (continued)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4E852B-7836-3B92-F21C-1C712CBC0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690688"/>
            <a:ext cx="10512424" cy="456296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Computational linguistics / NLP</a:t>
            </a:r>
          </a:p>
          <a:p>
            <a:pPr>
              <a:lnSpc>
                <a:spcPct val="150000"/>
              </a:lnSpc>
            </a:pPr>
            <a:r>
              <a:rPr lang="en-US" dirty="0"/>
              <a:t>Computational biology</a:t>
            </a:r>
          </a:p>
          <a:p>
            <a:pPr>
              <a:lnSpc>
                <a:spcPct val="150000"/>
              </a:lnSpc>
            </a:pPr>
            <a:r>
              <a:rPr lang="en-US" dirty="0"/>
              <a:t>Social sciences</a:t>
            </a:r>
          </a:p>
          <a:p>
            <a:pPr>
              <a:lnSpc>
                <a:spcPct val="150000"/>
              </a:lnSpc>
            </a:pPr>
            <a:r>
              <a:rPr lang="en-US" dirty="0"/>
              <a:t>AI and machine learning</a:t>
            </a:r>
          </a:p>
          <a:p>
            <a:pPr>
              <a:lnSpc>
                <a:spcPct val="150000"/>
              </a:lnSpc>
            </a:pPr>
            <a:r>
              <a:rPr lang="en-US" dirty="0"/>
              <a:t>Systems, networking, Internet</a:t>
            </a:r>
          </a:p>
          <a:p>
            <a:pPr>
              <a:lnSpc>
                <a:spcPct val="150000"/>
              </a:lnSpc>
            </a:pPr>
            <a:r>
              <a:rPr lang="en-US" dirty="0"/>
              <a:t>Data analysis and databases</a:t>
            </a:r>
          </a:p>
          <a:p>
            <a:pPr>
              <a:lnSpc>
                <a:spcPct val="150000"/>
              </a:lnSpc>
            </a:pPr>
            <a:r>
              <a:rPr lang="en-US" b="1" dirty="0"/>
              <a:t>Computing in the arts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Video / Audio demo, algorithmic art, games</a:t>
            </a:r>
          </a:p>
          <a:p>
            <a:pPr lvl="1">
              <a:lnSpc>
                <a:spcPct val="150000"/>
              </a:lnSpc>
            </a:pPr>
            <a:endParaRPr lang="en-US" b="1" dirty="0"/>
          </a:p>
          <a:p>
            <a:pPr lvl="1">
              <a:lnSpc>
                <a:spcPct val="150000"/>
              </a:lnSpc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32055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1148-6D69-30E4-E6D3-17CF787D8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Projects by Application Type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9F6EBF-A0D7-036D-76B6-9D4E94DF12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82186"/>
            <a:ext cx="10515600" cy="4351338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Command line tool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GUI program (TkIntern, PyGame, PyQT, Web UI)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Internet service (API) or website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Jupyter Notebook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/>
              <a:t>Embedded program (Raspberry Pi)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6920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68504-6539-115B-1817-6891BA59E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Pointers for Inspiration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4712B-A313-E78B-F35B-555E3ABDF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73619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/>
              <a:t>Peter Norvig’s </a:t>
            </a:r>
            <a:r>
              <a:rPr lang="en-US" dirty="0" err="1"/>
              <a:t>Jupyter</a:t>
            </a:r>
            <a:r>
              <a:rPr lang="en-US" dirty="0"/>
              <a:t> Notebooks: </a:t>
            </a:r>
            <a:r>
              <a:rPr lang="en-US" dirty="0">
                <a:hlinkClick r:id="rId2"/>
              </a:rPr>
              <a:t>https://github.com/norvig/pytudes</a:t>
            </a:r>
            <a:endParaRPr lang="en-US" dirty="0"/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Data science: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3"/>
              </a:rPr>
              <a:t>https://www.dataquest.io/path/data-analyst/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Machine learning: </a:t>
            </a:r>
            <a:r>
              <a:rPr lang="en-US" b="0" i="0" u="sng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4"/>
              </a:rPr>
              <a:t>https://scikit-learn.org/stable/index.html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Building websites with Django: </a:t>
            </a:r>
            <a:r>
              <a:rPr lang="en-US" b="0" i="0" u="sng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5"/>
              </a:rPr>
              <a:t>https://www.tangowithdjango.com/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Making games with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Pygame</a:t>
            </a: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6"/>
              </a:rPr>
              <a:t>https://www.pygame.org/wiki/tutorials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Learning robotics using Python (book):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7"/>
              </a:rPr>
              <a:t>https://www.amazon.com/dp/B00YEVZ6UK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b="0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Programming the Raspberry Pi (book): </a:t>
            </a:r>
            <a:r>
              <a:rPr lang="en-US" b="0" i="0" u="none" strike="noStrike" dirty="0">
                <a:solidFill>
                  <a:srgbClr val="222222"/>
                </a:solidFill>
                <a:effectLst/>
                <a:latin typeface="Open Sans" panose="020B0606030504020204" pitchFamily="34" charset="0"/>
                <a:hlinkClick r:id="rId8"/>
              </a:rPr>
              <a:t>https://www.adafruit.com/product/1089</a:t>
            </a:r>
            <a:endParaRPr lang="en-US" b="0" i="0" dirty="0">
              <a:solidFill>
                <a:srgbClr val="222222"/>
              </a:solidFill>
              <a:effectLst/>
              <a:latin typeface="Open Sans" panose="020B0606030504020204" pitchFamily="34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D07162-DEE0-837F-DCF3-92EB0B626726}"/>
              </a:ext>
            </a:extLst>
          </p:cNvPr>
          <p:cNvSpPr txBox="1"/>
          <p:nvPr/>
        </p:nvSpPr>
        <p:spPr>
          <a:xfrm>
            <a:off x="1773810" y="5938886"/>
            <a:ext cx="864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We will also offer a  library of more concrete ideas later this semester</a:t>
            </a:r>
          </a:p>
        </p:txBody>
      </p:sp>
    </p:spTree>
    <p:extLst>
      <p:ext uri="{BB962C8B-B14F-4D97-AF65-F5344CB8AC3E}">
        <p14:creationId xmlns:p14="http://schemas.microsoft.com/office/powerpoint/2010/main" val="42437108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29754</TotalTime>
  <Words>1702</Words>
  <Application>Microsoft Macintosh PowerPoint</Application>
  <PresentationFormat>Widescreen</PresentationFormat>
  <Paragraphs>261</Paragraphs>
  <Slides>30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-apple-system</vt:lpstr>
      <vt:lpstr>Arial</vt:lpstr>
      <vt:lpstr>Calibri</vt:lpstr>
      <vt:lpstr>Calibri Light</vt:lpstr>
      <vt:lpstr>Open Sans</vt:lpstr>
      <vt:lpstr>Office Theme</vt:lpstr>
      <vt:lpstr>COMS 2132: Advanced Computing in Python</vt:lpstr>
      <vt:lpstr>Teaching Team</vt:lpstr>
      <vt:lpstr>Columbia Curriculum for CS Non-majors</vt:lpstr>
      <vt:lpstr>What is this Course About?</vt:lpstr>
      <vt:lpstr>This Course is NOT About</vt:lpstr>
      <vt:lpstr>Background</vt:lpstr>
      <vt:lpstr>Learning Objectives</vt:lpstr>
      <vt:lpstr>Disclaimer</vt:lpstr>
      <vt:lpstr>Programming / Python Prerequisites</vt:lpstr>
      <vt:lpstr>Recommended Textbook</vt:lpstr>
      <vt:lpstr>CourseWorks</vt:lpstr>
      <vt:lpstr>Getting Help</vt:lpstr>
      <vt:lpstr>Lectures and Labs</vt:lpstr>
      <vt:lpstr>Grading</vt:lpstr>
      <vt:lpstr>Individual Homework Assignments</vt:lpstr>
      <vt:lpstr>Academic Honesty Policy</vt:lpstr>
      <vt:lpstr>Academic Honesty Policy Cont’d</vt:lpstr>
      <vt:lpstr>Project: Workflow on GitHub</vt:lpstr>
      <vt:lpstr>Project Proposal</vt:lpstr>
      <vt:lpstr>How to Pick a Project?</vt:lpstr>
      <vt:lpstr>Pick a Project Area (examples)</vt:lpstr>
      <vt:lpstr>Pick a Project Area (continued)</vt:lpstr>
      <vt:lpstr>Pick a Project Area (continued)</vt:lpstr>
      <vt:lpstr>Pick a Project Area (continued)</vt:lpstr>
      <vt:lpstr>Pick a Project Area (continued)</vt:lpstr>
      <vt:lpstr>Pick a Project Area (continued)</vt:lpstr>
      <vt:lpstr>Pick a Project Area (continued)</vt:lpstr>
      <vt:lpstr>Pick a Project Area (continued)</vt:lpstr>
      <vt:lpstr>Projects by Application Type</vt:lpstr>
      <vt:lpstr>Some Pointers for Inspiration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Jan Janak</dc:creator>
  <cp:lastModifiedBy>Daniel Bauer</cp:lastModifiedBy>
  <cp:revision>41</cp:revision>
  <dcterms:created xsi:type="dcterms:W3CDTF">2024-01-14T19:00:06Z</dcterms:created>
  <dcterms:modified xsi:type="dcterms:W3CDTF">2026-01-21T15:01:48Z</dcterms:modified>
</cp:coreProperties>
</file>